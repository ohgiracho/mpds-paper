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1109960" cy="0"/>
          </a:xfrm>
          <a:prstGeom prst="line">
            <a:avLst/>
          </a:prstGeom>
          <a:noFill/>
          <a:ln w="2794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881360" y="641908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713232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Universal IHQ Case-by-Case Scores with EOP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368" y="129844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1-30번 케이스 채점 결과 정리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58368" y="1719072"/>
            <a:ext cx="2011680" cy="0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01168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Framework: Universal Integrative Hypothesis Quality (4-dimension / 20-point)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Judge model: models/gemini-2.5-pro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Cases scored: 30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Rubric file: Universal IHQ Scoring Rules.txt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" y="544068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Slides 02 onward show the overall summary first and then one case per slide with system-level item scores and totals.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60920" y="14173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Mean Total by System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60920" y="1883664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531352" y="1920240"/>
            <a:ext cx="193852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31352" y="1920240"/>
            <a:ext cx="862645" cy="164592"/>
          </a:xfrm>
          <a:prstGeom prst="roundRect">
            <a:avLst>
              <a:gd name="adj" fmla="val 16667"/>
            </a:avLst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61320" y="188366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8.9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60920" y="2569464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531352" y="2606040"/>
            <a:ext cx="193852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31352" y="2606040"/>
            <a:ext cx="668792" cy="164592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61320" y="256946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6.9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60920" y="3255264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531352" y="3291840"/>
            <a:ext cx="193852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31352" y="3291840"/>
            <a:ext cx="872338" cy="164592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61320" y="325526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60920" y="3941064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531352" y="3977640"/>
            <a:ext cx="193852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31352" y="3977640"/>
            <a:ext cx="1230965" cy="164592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561320" y="394106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12.7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60920" y="4626864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531352" y="4663440"/>
            <a:ext cx="193852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531352" y="4663440"/>
            <a:ext cx="1289121" cy="164592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561320" y="462686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13.3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1109960" cy="0"/>
          </a:xfrm>
          <a:prstGeom prst="line">
            <a:avLst/>
          </a:prstGeom>
          <a:noFill/>
          <a:ln w="2794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881360" y="641908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640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Overall Summary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58368" y="9601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Universal IHQ averages and case-winning counts with EOP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58368" y="1417320"/>
            <a:ext cx="5806440" cy="0"/>
          </a:xfrm>
          <a:prstGeom prst="line">
            <a:avLst/>
          </a:prstGeom>
          <a:noFill/>
          <a:ln w="16510">
            <a:solidFill>
              <a:srgbClr val="1F29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801368"/>
            <a:ext cx="5806440" cy="0"/>
          </a:xfrm>
          <a:prstGeom prst="line">
            <a:avLst/>
          </a:prstGeom>
          <a:noFill/>
          <a:ln w="13970">
            <a:solidFill>
              <a:srgbClr val="0F766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185416"/>
            <a:ext cx="580644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2569464"/>
            <a:ext cx="580644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2953512"/>
            <a:ext cx="580644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3337560"/>
            <a:ext cx="580644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3721608"/>
            <a:ext cx="580644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1417320"/>
            <a:ext cx="0" cy="2304288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09928" y="1417320"/>
            <a:ext cx="0" cy="2304288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24328" y="1417320"/>
            <a:ext cx="0" cy="2304288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30168" y="1417320"/>
            <a:ext cx="0" cy="2304288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36008" y="1417320"/>
            <a:ext cx="0" cy="2304288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87568" y="1417320"/>
            <a:ext cx="0" cy="2304288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64808" y="1417320"/>
            <a:ext cx="0" cy="2304288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1481328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746504" y="148132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Novelty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660904" y="1481328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Mechanism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666744" y="1481328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Trade-off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672584" y="1481328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Integration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724144" y="1481328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Total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1874520"/>
            <a:ext cx="54864" cy="23774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944" y="1865376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746504" y="1865376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2.1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660904" y="1865376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2.0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666744" y="1865376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2.8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672584" y="1865376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2.0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724144" y="1865376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8.9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2258568"/>
            <a:ext cx="54864" cy="237744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4944" y="2249424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746504" y="2249424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1.7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660904" y="2249424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1.5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666744" y="2249424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2.2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672584" y="2249424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1.6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724144" y="2249424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6.9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48640" y="2642616"/>
            <a:ext cx="54864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4944" y="2633472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746504" y="2633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1.8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2660904" y="2633472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1.6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3666744" y="2633472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2.5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672584" y="2633472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3.1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724144" y="2633472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9.0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48640" y="3026664"/>
            <a:ext cx="54864" cy="23774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4944" y="3017520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1746504" y="301752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2.9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2660904" y="3017520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2.6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3666744" y="3017520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3.2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4672584" y="3017520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3.9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5724144" y="3017520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12.7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548640" y="3410712"/>
            <a:ext cx="54864" cy="2377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94944" y="3401568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1746504" y="340156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2.9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2660904" y="3401568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2.8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3666744" y="3401568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3.4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4672584" y="3401568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4.2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5724144" y="3401568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13.3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7818120" y="1417320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Mean Total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7818120" y="1883664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8805672" y="1920240"/>
            <a:ext cx="212140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805672" y="1920240"/>
            <a:ext cx="944027" cy="164592"/>
          </a:xfrm>
          <a:prstGeom prst="roundRect">
            <a:avLst>
              <a:gd name="adj" fmla="val 16667"/>
            </a:avLst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1018520" y="188366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8.9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7818120" y="2377440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8805672" y="2414016"/>
            <a:ext cx="212140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805672" y="2414016"/>
            <a:ext cx="731886" cy="164592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1018520" y="237744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6.9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7818120" y="2871216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8805672" y="2907792"/>
            <a:ext cx="212140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805672" y="2907792"/>
            <a:ext cx="954634" cy="164592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1018520" y="287121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9.0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7818120" y="3364992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8805672" y="3401568"/>
            <a:ext cx="212140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805672" y="3401568"/>
            <a:ext cx="1347094" cy="164592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1018520" y="336499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12.7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7818120" y="3858768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8805672" y="3895344"/>
            <a:ext cx="212140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805672" y="3895344"/>
            <a:ext cx="1410736" cy="164592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1018520" y="385876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13.3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7818120" y="3611880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Wins</a:t>
            </a:r>
            <a:endParaRPr lang="en-US" sz="1300" dirty="0"/>
          </a:p>
        </p:txBody>
      </p:sp>
      <p:sp>
        <p:nvSpPr>
          <p:cNvPr id="83" name="Text 81"/>
          <p:cNvSpPr/>
          <p:nvPr/>
        </p:nvSpPr>
        <p:spPr>
          <a:xfrm>
            <a:off x="7818120" y="4078224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8805672" y="4114800"/>
            <a:ext cx="212140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805672" y="4114800"/>
            <a:ext cx="141427" cy="164592"/>
          </a:xfrm>
          <a:prstGeom prst="roundRect">
            <a:avLst>
              <a:gd name="adj" fmla="val 19397"/>
            </a:avLst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1018520" y="407822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7818120" y="4480560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8805672" y="4517136"/>
            <a:ext cx="212140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8805672" y="4517136"/>
            <a:ext cx="45720" cy="164592"/>
          </a:xfrm>
          <a:prstGeom prst="roundRect">
            <a:avLst>
              <a:gd name="adj" fmla="val 60000"/>
            </a:avLst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1018520" y="448056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100" dirty="0"/>
          </a:p>
        </p:txBody>
      </p:sp>
      <p:sp>
        <p:nvSpPr>
          <p:cNvPr id="91" name="Text 89"/>
          <p:cNvSpPr/>
          <p:nvPr/>
        </p:nvSpPr>
        <p:spPr>
          <a:xfrm>
            <a:off x="7818120" y="4882896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</a:t>
            </a:r>
            <a:endParaRPr lang="en-US" sz="1100" dirty="0"/>
          </a:p>
        </p:txBody>
      </p:sp>
      <p:sp>
        <p:nvSpPr>
          <p:cNvPr id="92" name="Shape 90"/>
          <p:cNvSpPr/>
          <p:nvPr/>
        </p:nvSpPr>
        <p:spPr>
          <a:xfrm>
            <a:off x="8805672" y="4919472"/>
            <a:ext cx="212140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8805672" y="4919472"/>
            <a:ext cx="45720" cy="164592"/>
          </a:xfrm>
          <a:prstGeom prst="roundRect">
            <a:avLst>
              <a:gd name="adj" fmla="val 60000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1018520" y="488289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100" dirty="0"/>
          </a:p>
        </p:txBody>
      </p:sp>
      <p:sp>
        <p:nvSpPr>
          <p:cNvPr id="95" name="Text 93"/>
          <p:cNvSpPr/>
          <p:nvPr/>
        </p:nvSpPr>
        <p:spPr>
          <a:xfrm>
            <a:off x="7818120" y="5285232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</a:t>
            </a:r>
            <a:endParaRPr lang="en-US" sz="1100" dirty="0"/>
          </a:p>
        </p:txBody>
      </p:sp>
      <p:sp>
        <p:nvSpPr>
          <p:cNvPr id="96" name="Shape 94"/>
          <p:cNvSpPr/>
          <p:nvPr/>
        </p:nvSpPr>
        <p:spPr>
          <a:xfrm>
            <a:off x="8805672" y="5321808"/>
            <a:ext cx="212140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805672" y="5321808"/>
            <a:ext cx="848563" cy="164592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1018520" y="52852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100" dirty="0"/>
          </a:p>
        </p:txBody>
      </p:sp>
      <p:sp>
        <p:nvSpPr>
          <p:cNvPr id="99" name="Text 97"/>
          <p:cNvSpPr/>
          <p:nvPr/>
        </p:nvSpPr>
        <p:spPr>
          <a:xfrm>
            <a:off x="7818120" y="5687568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</a:t>
            </a:r>
            <a:endParaRPr lang="en-US" sz="1100" dirty="0"/>
          </a:p>
        </p:txBody>
      </p:sp>
      <p:sp>
        <p:nvSpPr>
          <p:cNvPr id="100" name="Shape 98"/>
          <p:cNvSpPr/>
          <p:nvPr/>
        </p:nvSpPr>
        <p:spPr>
          <a:xfrm>
            <a:off x="8805672" y="5724144"/>
            <a:ext cx="212140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8805672" y="5724144"/>
            <a:ext cx="1343558" cy="164592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11018520" y="568756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1100" dirty="0"/>
          </a:p>
        </p:txBody>
      </p:sp>
      <p:sp>
        <p:nvSpPr>
          <p:cNvPr id="103" name="Text 101"/>
          <p:cNvSpPr/>
          <p:nvPr/>
        </p:nvSpPr>
        <p:spPr>
          <a:xfrm>
            <a:off x="658368" y="6327648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Scores shown here are the saved outputs from scores.json. Tied highest totals count as wins for each tied system.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1109960" cy="0"/>
          </a:xfrm>
          <a:prstGeom prst="line">
            <a:avLst/>
          </a:prstGeom>
          <a:noFill/>
          <a:ln w="2794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881360" y="641908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621792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01  Glitter-Cake(1)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58368" y="1051560"/>
            <a:ext cx="10881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Within a fixed polycrystalline NCM811/LPSCl/existing-conductive-additive composite prepared by mechanofusion, how should limited LPSCl be geometrically allocated between particle-surface coverage and interstitial filling to best preserve ionic continuity, electronic accessibility, and dense packing at &gt;85 wt% active material?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19933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Total Score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245973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83080" y="249631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83080" y="2496312"/>
            <a:ext cx="903427" cy="164592"/>
          </a:xfrm>
          <a:prstGeom prst="roundRect">
            <a:avLst>
              <a:gd name="adj" fmla="val 16667"/>
            </a:avLst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33088" y="245973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" y="300837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783080" y="304495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83080" y="3044952"/>
            <a:ext cx="1016356" cy="164592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33088" y="300837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" y="355701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783080" y="359359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83080" y="3593592"/>
            <a:ext cx="1580998" cy="164592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33088" y="35570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808" y="410565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783080" y="414223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83080" y="4142232"/>
            <a:ext cx="1693926" cy="164592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33088" y="410565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9808" y="465429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783080" y="469087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83080" y="4690872"/>
            <a:ext cx="1468069" cy="164592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33088" y="465429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9808" y="54864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Winner: DS 15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92040" y="19019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Item scores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92040" y="2148840"/>
            <a:ext cx="5623560" cy="0"/>
          </a:xfrm>
          <a:prstGeom prst="line">
            <a:avLst/>
          </a:prstGeom>
          <a:noFill/>
          <a:ln w="16510">
            <a:solidFill>
              <a:srgbClr val="1F293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92040" y="2569464"/>
            <a:ext cx="5623560" cy="0"/>
          </a:xfrm>
          <a:prstGeom prst="line">
            <a:avLst/>
          </a:prstGeom>
          <a:noFill/>
          <a:ln w="13970">
            <a:solidFill>
              <a:srgbClr val="0F766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92040" y="2990088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92040" y="3410712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92040" y="3831336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92040" y="4251960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92040" y="4672584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9204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4360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1228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7240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73252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78408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51560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28616" y="221284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980176" y="2212848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Novelty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848856" y="221284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Mechanism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808976" y="221284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Trade-off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8769096" y="221284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Integration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9820656" y="221284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Total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782312" y="2642616"/>
            <a:ext cx="54864" cy="274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28616" y="2633472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980176" y="2633472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848856" y="2633472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7808976" y="2633472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8769096" y="2633472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9820656" y="263347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782312" y="3063240"/>
            <a:ext cx="54864" cy="2743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28616" y="3054096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5980176" y="3054096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6848856" y="3054096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7808976" y="3054096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8769096" y="3054096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9820656" y="3054096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4782312" y="3483864"/>
            <a:ext cx="54864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928616" y="3474720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5980176" y="3474720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6848856" y="3474720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7808976" y="3474720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8769096" y="3474720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9820656" y="347472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4782312" y="3904488"/>
            <a:ext cx="54864" cy="274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928616" y="3895344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5980176" y="3895344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6848856" y="3895344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7808976" y="3895344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8769096" y="3895344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9820656" y="3895344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4782312" y="4325112"/>
            <a:ext cx="54864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928616" y="431596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5980176" y="4315968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80" name="Text 78"/>
          <p:cNvSpPr/>
          <p:nvPr/>
        </p:nvSpPr>
        <p:spPr>
          <a:xfrm>
            <a:off x="6848856" y="431596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81" name="Text 79"/>
          <p:cNvSpPr/>
          <p:nvPr/>
        </p:nvSpPr>
        <p:spPr>
          <a:xfrm>
            <a:off x="7808976" y="431596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82" name="Text 80"/>
          <p:cNvSpPr/>
          <p:nvPr/>
        </p:nvSpPr>
        <p:spPr>
          <a:xfrm>
            <a:off x="8769096" y="431596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83" name="Text 81"/>
          <p:cNvSpPr/>
          <p:nvPr/>
        </p:nvSpPr>
        <p:spPr>
          <a:xfrm>
            <a:off x="9820656" y="431596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050" dirty="0"/>
          </a:p>
        </p:txBody>
      </p:sp>
      <p:sp>
        <p:nvSpPr>
          <p:cNvPr id="84" name="Text 82"/>
          <p:cNvSpPr/>
          <p:nvPr/>
        </p:nvSpPr>
        <p:spPr>
          <a:xfrm>
            <a:off x="4892040" y="4919472"/>
            <a:ext cx="6537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LLM: Presents a structured but conventional analysis of three alternatives, recommending a bimodal approach without significant novelty or integration.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EO: Proposes a bimodal distribution, a known materials science concept, to balance competing network requirements.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EOP: The proposal uses a bimodal particle distribution, a known concept but applied here as a meaningfully different design logic that introduces a new lever to reframe the core trade-offs and integrates multiple physical constraints into a coherent hybrid structure.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DS: Synthesizes competing architectural and mechanical-stability viewpoints into a novel, phased R&amp;D strategy that reframes the core trade-off.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MPDS: Integrates competing viewpoints to propose an engineered bimodal architecture combined with a specific, risk-mitigated processing route.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1109960" cy="0"/>
          </a:xfrm>
          <a:prstGeom prst="line">
            <a:avLst/>
          </a:prstGeom>
          <a:noFill/>
          <a:ln w="2794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881360" y="641908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621792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02  Mo,Ni sulfide(2)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58368" y="1051560"/>
            <a:ext cx="10881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What multicomponent Mo/Ni chalcogenide microsphere design would best preserve sodium-ion accessibility, electronic continuity, and structural buffering without wasting packing density or process scalability?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19933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Total Score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245973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83080" y="249631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83080" y="2496312"/>
            <a:ext cx="1468069" cy="164592"/>
          </a:xfrm>
          <a:prstGeom prst="roundRect">
            <a:avLst>
              <a:gd name="adj" fmla="val 16667"/>
            </a:avLst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33088" y="245973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" y="300837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783080" y="304495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83080" y="3044952"/>
            <a:ext cx="903427" cy="164592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33088" y="300837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" y="355701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783080" y="359359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83080" y="3593592"/>
            <a:ext cx="1242212" cy="164592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33088" y="35570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808" y="410565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783080" y="414223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83080" y="4142232"/>
            <a:ext cx="1242212" cy="164592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33088" y="410565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9808" y="465429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783080" y="469087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83080" y="4690872"/>
            <a:ext cx="1693926" cy="164592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33088" y="465429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9808" y="54864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Winner: MPDS 15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92040" y="19019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Item scores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92040" y="2148840"/>
            <a:ext cx="5623560" cy="0"/>
          </a:xfrm>
          <a:prstGeom prst="line">
            <a:avLst/>
          </a:prstGeom>
          <a:noFill/>
          <a:ln w="16510">
            <a:solidFill>
              <a:srgbClr val="1F293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92040" y="2569464"/>
            <a:ext cx="5623560" cy="0"/>
          </a:xfrm>
          <a:prstGeom prst="line">
            <a:avLst/>
          </a:prstGeom>
          <a:noFill/>
          <a:ln w="13970">
            <a:solidFill>
              <a:srgbClr val="0F766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92040" y="2990088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92040" y="3410712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92040" y="3831336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92040" y="4251960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92040" y="4672584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9204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4360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1228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7240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73252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78408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51560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28616" y="221284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980176" y="2212848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Novelty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848856" y="221284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Mechanism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808976" y="221284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Trade-off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8769096" y="221284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Integration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9820656" y="221284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Total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782312" y="2642616"/>
            <a:ext cx="54864" cy="274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28616" y="2633472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980176" y="2633472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848856" y="2633472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7808976" y="2633472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8769096" y="2633472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9820656" y="263347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782312" y="3063240"/>
            <a:ext cx="54864" cy="2743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28616" y="3054096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5980176" y="3054096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6848856" y="3054096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7808976" y="3054096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8769096" y="3054096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9820656" y="3054096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4782312" y="3483864"/>
            <a:ext cx="54864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928616" y="3474720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5980176" y="3474720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6848856" y="3474720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7808976" y="3474720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8769096" y="3474720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9820656" y="347472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4782312" y="3904488"/>
            <a:ext cx="54864" cy="274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928616" y="3895344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5980176" y="3895344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6848856" y="3895344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7808976" y="3895344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8769096" y="3895344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9820656" y="3895344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4782312" y="4325112"/>
            <a:ext cx="54864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928616" y="431596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5980176" y="4315968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80" name="Text 78"/>
          <p:cNvSpPr/>
          <p:nvPr/>
        </p:nvSpPr>
        <p:spPr>
          <a:xfrm>
            <a:off x="6848856" y="431596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81" name="Text 79"/>
          <p:cNvSpPr/>
          <p:nvPr/>
        </p:nvSpPr>
        <p:spPr>
          <a:xfrm>
            <a:off x="7808976" y="431596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82" name="Text 80"/>
          <p:cNvSpPr/>
          <p:nvPr/>
        </p:nvSpPr>
        <p:spPr>
          <a:xfrm>
            <a:off x="8769096" y="431596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50" dirty="0"/>
          </a:p>
        </p:txBody>
      </p:sp>
      <p:sp>
        <p:nvSpPr>
          <p:cNvPr id="83" name="Text 81"/>
          <p:cNvSpPr/>
          <p:nvPr/>
        </p:nvSpPr>
        <p:spPr>
          <a:xfrm>
            <a:off x="9820656" y="431596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050" dirty="0"/>
          </a:p>
        </p:txBody>
      </p:sp>
      <p:sp>
        <p:nvSpPr>
          <p:cNvPr id="84" name="Text 82"/>
          <p:cNvSpPr/>
          <p:nvPr/>
        </p:nvSpPr>
        <p:spPr>
          <a:xfrm>
            <a:off x="4892040" y="4919472"/>
            <a:ext cx="6537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LLM: This output proposes a specific, advanced yolk-shell architecture that structurally reframes the volume expansion trade-off.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EO: This output proposes a standard 'nano-in-micro' rGO composite, combining known strategies without significant novelty or reframing.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EOP: The proposal presents a solid and meaningfully differentiated design by integrating multiple known strategies, but lacks a novel core idea or mechanistic insight.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DS: This output explicitly synthesizes two competing perspectives (nanostructure vs. scalability) into a coherent hybrid approach.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MPDS: This output synthesizes competing views to generate a more novel dual-network (carbon + graphene) concept that reframes the structural integrity trade-off.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1109960" cy="0"/>
          </a:xfrm>
          <a:prstGeom prst="line">
            <a:avLst/>
          </a:prstGeom>
          <a:noFill/>
          <a:ln w="2794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881360" y="641908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621792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03  NiMoO4(3)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58368" y="1051560"/>
            <a:ext cx="10881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How should NiMoO4 microspheres with internal nanovoids be designed and processed so that void buffering, conductivity, and tap density remain balanced for durable high-rate Li-ion storage?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19933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Total Score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245973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83080" y="249631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83080" y="2496312"/>
            <a:ext cx="1693926" cy="164592"/>
          </a:xfrm>
          <a:prstGeom prst="roundRect">
            <a:avLst>
              <a:gd name="adj" fmla="val 16667"/>
            </a:avLst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33088" y="245973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" y="300837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783080" y="304495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83080" y="3044952"/>
            <a:ext cx="677570" cy="164592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33088" y="300837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" y="355701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783080" y="359359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83080" y="3593592"/>
            <a:ext cx="1016356" cy="164592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33088" y="35570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808" y="410565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783080" y="414223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83080" y="4142232"/>
            <a:ext cx="1693926" cy="164592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33088" y="410565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9808" y="465429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783080" y="469087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83080" y="4690872"/>
            <a:ext cx="1468069" cy="164592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33088" y="465429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9808" y="54864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Tie: Raw LLM 15, DS 15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92040" y="19019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Item scores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92040" y="2148840"/>
            <a:ext cx="5623560" cy="0"/>
          </a:xfrm>
          <a:prstGeom prst="line">
            <a:avLst/>
          </a:prstGeom>
          <a:noFill/>
          <a:ln w="16510">
            <a:solidFill>
              <a:srgbClr val="1F293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92040" y="2569464"/>
            <a:ext cx="5623560" cy="0"/>
          </a:xfrm>
          <a:prstGeom prst="line">
            <a:avLst/>
          </a:prstGeom>
          <a:noFill/>
          <a:ln w="13970">
            <a:solidFill>
              <a:srgbClr val="0F766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92040" y="2990088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92040" y="3410712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92040" y="3831336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92040" y="4251960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92040" y="4672584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9204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4360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1228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7240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73252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78408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51560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28616" y="221284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980176" y="2212848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Novelty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848856" y="221284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Mechanism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808976" y="221284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Trade-off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8769096" y="221284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Integration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9820656" y="221284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Total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782312" y="2642616"/>
            <a:ext cx="54864" cy="274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28616" y="2633472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980176" y="2633472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848856" y="2633472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7808976" y="2633472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8769096" y="2633472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9820656" y="263347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782312" y="3063240"/>
            <a:ext cx="54864" cy="2743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28616" y="3054096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5980176" y="3054096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6848856" y="3054096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7808976" y="3054096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8769096" y="3054096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9820656" y="3054096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4782312" y="3483864"/>
            <a:ext cx="54864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928616" y="3474720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5980176" y="3474720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6848856" y="3474720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7808976" y="3474720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8769096" y="3474720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9820656" y="347472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4782312" y="3904488"/>
            <a:ext cx="54864" cy="274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928616" y="3895344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5980176" y="3895344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6848856" y="3895344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7808976" y="3895344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8769096" y="3895344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9820656" y="3895344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4782312" y="4325112"/>
            <a:ext cx="54864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928616" y="431596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5980176" y="4315968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80" name="Text 78"/>
          <p:cNvSpPr/>
          <p:nvPr/>
        </p:nvSpPr>
        <p:spPr>
          <a:xfrm>
            <a:off x="6848856" y="431596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81" name="Text 79"/>
          <p:cNvSpPr/>
          <p:nvPr/>
        </p:nvSpPr>
        <p:spPr>
          <a:xfrm>
            <a:off x="7808976" y="431596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82" name="Text 80"/>
          <p:cNvSpPr/>
          <p:nvPr/>
        </p:nvSpPr>
        <p:spPr>
          <a:xfrm>
            <a:off x="8769096" y="431596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83" name="Text 81"/>
          <p:cNvSpPr/>
          <p:nvPr/>
        </p:nvSpPr>
        <p:spPr>
          <a:xfrm>
            <a:off x="9820656" y="431596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050" dirty="0"/>
          </a:p>
        </p:txBody>
      </p:sp>
      <p:sp>
        <p:nvSpPr>
          <p:cNvPr id="84" name="Text 82"/>
          <p:cNvSpPr/>
          <p:nvPr/>
        </p:nvSpPr>
        <p:spPr>
          <a:xfrm>
            <a:off x="4892040" y="4919472"/>
            <a:ext cx="6537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LLM: Systematically deconstructs and resolves key trade-offs, building a strong, mechanistically-grounded composite solution.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EO: A descriptive list of standard techniques that lacks a novel or integrated final proposal.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EOP: The proposal applies established synthesis strategies to a new material, reframing the process-vs-structure trade-off by integrating multiple constraints into a practical plan.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DS: Proposes a specific, advanced yolk-shell architecture that strongly reframes trade-offs with a clear mechanistic rationale.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MPDS: A solid hybrid proposal that effectively integrates two opposing strategies, though the component ideas are somewhat standard.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1109960" cy="0"/>
          </a:xfrm>
          <a:prstGeom prst="line">
            <a:avLst/>
          </a:prstGeom>
          <a:noFill/>
          <a:ln w="2794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881360" y="641908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621792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04  V2O3(4)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58368" y="1051560"/>
            <a:ext cx="10881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How should V2O3 be anchored on carbon nanotube microspheres with macrovoids to accelerate Zn2+ transport while preserving structural stability and electrical continuity in aqueous ZIB cathodes?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19933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Total Score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245973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83080" y="249631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83080" y="2496312"/>
            <a:ext cx="790499" cy="164592"/>
          </a:xfrm>
          <a:prstGeom prst="roundRect">
            <a:avLst>
              <a:gd name="adj" fmla="val 16667"/>
            </a:avLst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33088" y="245973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" y="300837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783080" y="304495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83080" y="3044952"/>
            <a:ext cx="564642" cy="164592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33088" y="300837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" y="355701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783080" y="359359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83080" y="3593592"/>
            <a:ext cx="1129284" cy="164592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33088" y="35570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808" y="410565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783080" y="414223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83080" y="4142232"/>
            <a:ext cx="1693926" cy="164592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33088" y="410565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9808" y="465429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783080" y="469087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83080" y="4690872"/>
            <a:ext cx="1919783" cy="164592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33088" y="465429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9808" y="54864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Winner: MPDS 17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92040" y="19019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Item scores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92040" y="2148840"/>
            <a:ext cx="5623560" cy="0"/>
          </a:xfrm>
          <a:prstGeom prst="line">
            <a:avLst/>
          </a:prstGeom>
          <a:noFill/>
          <a:ln w="16510">
            <a:solidFill>
              <a:srgbClr val="1F293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92040" y="2569464"/>
            <a:ext cx="5623560" cy="0"/>
          </a:xfrm>
          <a:prstGeom prst="line">
            <a:avLst/>
          </a:prstGeom>
          <a:noFill/>
          <a:ln w="13970">
            <a:solidFill>
              <a:srgbClr val="0F766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92040" y="2990088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92040" y="3410712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92040" y="3831336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92040" y="4251960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92040" y="4672584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9204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4360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1228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7240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73252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78408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51560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28616" y="221284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980176" y="2212848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Novelty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848856" y="221284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Mechanism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808976" y="221284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Trade-off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8769096" y="221284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Integration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9820656" y="221284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Total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782312" y="2642616"/>
            <a:ext cx="54864" cy="274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28616" y="2633472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980176" y="2633472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848856" y="2633472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7808976" y="2633472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8769096" y="2633472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9820656" y="263347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782312" y="3063240"/>
            <a:ext cx="54864" cy="2743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28616" y="3054096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5980176" y="3054096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6848856" y="3054096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7808976" y="3054096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8769096" y="3054096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9820656" y="3054096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4782312" y="3483864"/>
            <a:ext cx="54864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928616" y="3474720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5980176" y="3474720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6848856" y="3474720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7808976" y="3474720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8769096" y="3474720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9820656" y="347472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4782312" y="3904488"/>
            <a:ext cx="54864" cy="274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928616" y="3895344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5980176" y="3895344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6848856" y="3895344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7808976" y="3895344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8769096" y="3895344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9820656" y="3895344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4782312" y="4325112"/>
            <a:ext cx="54864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928616" y="431596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5980176" y="4315968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80" name="Text 78"/>
          <p:cNvSpPr/>
          <p:nvPr/>
        </p:nvSpPr>
        <p:spPr>
          <a:xfrm>
            <a:off x="6848856" y="431596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81" name="Text 79"/>
          <p:cNvSpPr/>
          <p:nvPr/>
        </p:nvSpPr>
        <p:spPr>
          <a:xfrm>
            <a:off x="7808976" y="431596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82" name="Text 80"/>
          <p:cNvSpPr/>
          <p:nvPr/>
        </p:nvSpPr>
        <p:spPr>
          <a:xfrm>
            <a:off x="8769096" y="431596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50" dirty="0"/>
          </a:p>
        </p:txBody>
      </p:sp>
      <p:sp>
        <p:nvSpPr>
          <p:cNvPr id="83" name="Text 81"/>
          <p:cNvSpPr/>
          <p:nvPr/>
        </p:nvSpPr>
        <p:spPr>
          <a:xfrm>
            <a:off x="9820656" y="431596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1050" dirty="0"/>
          </a:p>
        </p:txBody>
      </p:sp>
      <p:sp>
        <p:nvSpPr>
          <p:cNvPr id="84" name="Text 82"/>
          <p:cNvSpPr/>
          <p:nvPr/>
        </p:nvSpPr>
        <p:spPr>
          <a:xfrm>
            <a:off x="4892040" y="4919472"/>
            <a:ext cx="6537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LLM: This output analyzes standard options and recommends a conventional combination of best practices without significant integration or novelty.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EO: The output combines several known strategies but does not present a novel idea, mechanism, or integration of competing views.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EOP: The proposal applies a well-established hierarchical design strategy using standard mechanistic rationales, representing a solid but conventional approach to managing known battery material trade-offs.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DS: The output effectively integrates two competing scientific philosophies into a coherent, dual-track research strategy, reframing the core trade-off.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MPDS: The output creates a novel and specific material concept by deeply integrating the strongest components from competing arguments.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1109960" cy="0"/>
          </a:xfrm>
          <a:prstGeom prst="line">
            <a:avLst/>
          </a:prstGeom>
          <a:noFill/>
          <a:ln w="2794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881360" y="641908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621792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05  FeSe2(5)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58368" y="1051560"/>
            <a:ext cx="10881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What FeSe2/carbon architecture would best balance sodium storage capacity, volume-change buffering, and electrical wiring without collapsing the hollow carbon host?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19933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Total Score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245973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83080" y="249631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83080" y="2496312"/>
            <a:ext cx="1016356" cy="164592"/>
          </a:xfrm>
          <a:prstGeom prst="roundRect">
            <a:avLst>
              <a:gd name="adj" fmla="val 16667"/>
            </a:avLst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33088" y="245973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" y="300837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783080" y="304495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83080" y="3044952"/>
            <a:ext cx="564642" cy="164592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33088" y="300837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" y="355701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783080" y="359359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83080" y="3593592"/>
            <a:ext cx="1129284" cy="164592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33088" y="35570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808" y="410565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783080" y="414223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83080" y="4142232"/>
            <a:ext cx="1468069" cy="164592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33088" y="410565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9808" y="465429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783080" y="469087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83080" y="4690872"/>
            <a:ext cx="677570" cy="164592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33088" y="465429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9808" y="54864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Winner: DS 13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92040" y="19019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Item scores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92040" y="2148840"/>
            <a:ext cx="5623560" cy="0"/>
          </a:xfrm>
          <a:prstGeom prst="line">
            <a:avLst/>
          </a:prstGeom>
          <a:noFill/>
          <a:ln w="16510">
            <a:solidFill>
              <a:srgbClr val="1F293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92040" y="2569464"/>
            <a:ext cx="5623560" cy="0"/>
          </a:xfrm>
          <a:prstGeom prst="line">
            <a:avLst/>
          </a:prstGeom>
          <a:noFill/>
          <a:ln w="13970">
            <a:solidFill>
              <a:srgbClr val="0F766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92040" y="2990088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92040" y="3410712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92040" y="3831336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92040" y="4251960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92040" y="4672584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9204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4360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1228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7240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73252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78408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51560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28616" y="221284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980176" y="2212848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Novelty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848856" y="221284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Mechanism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808976" y="221284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Trade-off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8769096" y="221284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Integration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9820656" y="221284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Total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782312" y="2642616"/>
            <a:ext cx="54864" cy="274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28616" y="2633472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980176" y="2633472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848856" y="2633472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7808976" y="2633472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8769096" y="2633472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9820656" y="263347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782312" y="3063240"/>
            <a:ext cx="54864" cy="2743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28616" y="3054096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5980176" y="3054096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6848856" y="3054096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7808976" y="3054096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8769096" y="3054096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9820656" y="3054096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4782312" y="3483864"/>
            <a:ext cx="54864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928616" y="3474720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5980176" y="3474720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6848856" y="3474720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7808976" y="3474720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8769096" y="3474720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9820656" y="347472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4782312" y="3904488"/>
            <a:ext cx="54864" cy="274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928616" y="3895344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5980176" y="3895344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6848856" y="3895344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7808976" y="3895344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8769096" y="3895344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9820656" y="3895344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4782312" y="4325112"/>
            <a:ext cx="54864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928616" y="431596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5980176" y="4315968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80" name="Text 78"/>
          <p:cNvSpPr/>
          <p:nvPr/>
        </p:nvSpPr>
        <p:spPr>
          <a:xfrm>
            <a:off x="6848856" y="431596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81" name="Text 79"/>
          <p:cNvSpPr/>
          <p:nvPr/>
        </p:nvSpPr>
        <p:spPr>
          <a:xfrm>
            <a:off x="7808976" y="431596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82" name="Text 80"/>
          <p:cNvSpPr/>
          <p:nvPr/>
        </p:nvSpPr>
        <p:spPr>
          <a:xfrm>
            <a:off x="8769096" y="431596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83" name="Text 81"/>
          <p:cNvSpPr/>
          <p:nvPr/>
        </p:nvSpPr>
        <p:spPr>
          <a:xfrm>
            <a:off x="9820656" y="431596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50" dirty="0"/>
          </a:p>
        </p:txBody>
      </p:sp>
      <p:sp>
        <p:nvSpPr>
          <p:cNvPr id="84" name="Text 82"/>
          <p:cNvSpPr/>
          <p:nvPr/>
        </p:nvSpPr>
        <p:spPr>
          <a:xfrm>
            <a:off x="4892040" y="4919472"/>
            <a:ext cx="6537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LLM: The output systematically analyzes several architectural options and selects the best one, proposing a better optimization route but not a truly novel or synthetic idea.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EO: The output proposes a standard yolk-shell architecture and explains its function using well-established mechanisms without reframing trade-offs or integrating competing views.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EOP: The proposal applies a well-known yolk-shell structure, lacking novelty in idea and mechanism, but effectively integrates multiple design constraints into a coherent solution.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DS: The output proposes a novel 'hollow-in-hollow' architecture that explicitly integrates the core strengths of two competing proposals into a new, hybrid solution.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MPDS: The output selects one of two conventional architectures by identifying a fatal flaw in the other, rather than creating a new integrated solution.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1109960" cy="0"/>
          </a:xfrm>
          <a:prstGeom prst="line">
            <a:avLst/>
          </a:prstGeom>
          <a:noFill/>
          <a:ln w="2794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881360" y="641908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621792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06  VN(6)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58368" y="1051560"/>
            <a:ext cx="10881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How should vanadium nitride be nanoconfined within 3D porous reduced-graphene-oxide microspheres to raise aqueous zinc-ion cathode capacity without sacrificing reversibility, conductivity, or structural accessibility?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19933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Total Score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245973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83080" y="249631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83080" y="2496312"/>
            <a:ext cx="1129284" cy="164592"/>
          </a:xfrm>
          <a:prstGeom prst="roundRect">
            <a:avLst>
              <a:gd name="adj" fmla="val 16667"/>
            </a:avLst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33088" y="245973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" y="300837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783080" y="304495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83080" y="3044952"/>
            <a:ext cx="677570" cy="164592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33088" y="300837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" y="355701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783080" y="359359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83080" y="3593592"/>
            <a:ext cx="1016356" cy="164592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33088" y="35570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808" y="410565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783080" y="414223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83080" y="4142232"/>
            <a:ext cx="1919783" cy="164592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33088" y="410565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9808" y="465429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783080" y="469087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83080" y="4690872"/>
            <a:ext cx="1693926" cy="164592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33088" y="465429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9808" y="54864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Winner: DS 17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92040" y="19019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Item scores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92040" y="2148840"/>
            <a:ext cx="5623560" cy="0"/>
          </a:xfrm>
          <a:prstGeom prst="line">
            <a:avLst/>
          </a:prstGeom>
          <a:noFill/>
          <a:ln w="16510">
            <a:solidFill>
              <a:srgbClr val="1F293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92040" y="2569464"/>
            <a:ext cx="5623560" cy="0"/>
          </a:xfrm>
          <a:prstGeom prst="line">
            <a:avLst/>
          </a:prstGeom>
          <a:noFill/>
          <a:ln w="13970">
            <a:solidFill>
              <a:srgbClr val="0F766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92040" y="2990088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92040" y="3410712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92040" y="3831336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92040" y="4251960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92040" y="4672584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9204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4360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1228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7240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73252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78408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51560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28616" y="221284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980176" y="2212848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Novelty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848856" y="221284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Mechanism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808976" y="221284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Trade-off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8769096" y="221284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Integration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9820656" y="221284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Total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782312" y="2642616"/>
            <a:ext cx="54864" cy="274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28616" y="2633472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980176" y="2633472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848856" y="2633472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7808976" y="2633472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8769096" y="2633472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9820656" y="263347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782312" y="3063240"/>
            <a:ext cx="54864" cy="2743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28616" y="3054096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5980176" y="3054096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6848856" y="3054096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7808976" y="3054096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8769096" y="3054096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9820656" y="3054096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4782312" y="3483864"/>
            <a:ext cx="54864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928616" y="3474720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5980176" y="3474720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6848856" y="3474720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7808976" y="3474720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8769096" y="3474720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9820656" y="347472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4782312" y="3904488"/>
            <a:ext cx="54864" cy="274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928616" y="3895344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5980176" y="3895344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6848856" y="3895344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7808976" y="3895344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8769096" y="3895344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9820656" y="3895344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4782312" y="4325112"/>
            <a:ext cx="54864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928616" y="431596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5980176" y="4315968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80" name="Text 78"/>
          <p:cNvSpPr/>
          <p:nvPr/>
        </p:nvSpPr>
        <p:spPr>
          <a:xfrm>
            <a:off x="6848856" y="431596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81" name="Text 79"/>
          <p:cNvSpPr/>
          <p:nvPr/>
        </p:nvSpPr>
        <p:spPr>
          <a:xfrm>
            <a:off x="7808976" y="431596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82" name="Text 80"/>
          <p:cNvSpPr/>
          <p:nvPr/>
        </p:nvSpPr>
        <p:spPr>
          <a:xfrm>
            <a:off x="8769096" y="431596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50" dirty="0"/>
          </a:p>
        </p:txBody>
      </p:sp>
      <p:sp>
        <p:nvSpPr>
          <p:cNvPr id="83" name="Text 81"/>
          <p:cNvSpPr/>
          <p:nvPr/>
        </p:nvSpPr>
        <p:spPr>
          <a:xfrm>
            <a:off x="9820656" y="431596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050" dirty="0"/>
          </a:p>
        </p:txBody>
      </p:sp>
      <p:sp>
        <p:nvSpPr>
          <p:cNvPr id="84" name="Text 82"/>
          <p:cNvSpPr/>
          <p:nvPr/>
        </p:nvSpPr>
        <p:spPr>
          <a:xfrm>
            <a:off x="4892040" y="4919472"/>
            <a:ext cx="6537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LLM: The output systematically compares standard synthesis strategies and makes a well-justified selection, but does not generate a novel idea from this analysis.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EO: The output proposes a reasonable combination of known synthesis and architectural techniques but does not offer a novel idea, mechanism, or trade-off reframing.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EOP: The proposal competently combines established strategies (core-shell, rGO matrix) but does not introduce novel concepts, mechanisms, or a new way of framing the core trade-offs.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DS: The output reframes the core problem by proposing to eliminate the carbon host, bypassing the central trade-off and creating a novel research direction.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MPDS: The output synthesizes two competing perspectives to create a novel, hybrid synthesis strategy that redefines a key design trade-off.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1109960" cy="0"/>
          </a:xfrm>
          <a:prstGeom prst="line">
            <a:avLst/>
          </a:prstGeom>
          <a:noFill/>
          <a:ln w="2794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881360" y="641908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621792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07  Sb+rGO(7)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58368" y="1051560"/>
            <a:ext cx="10881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What Sb/carbon/reduced-graphene-oxide shell architecture would best buffer alloying strain and preserve conductivity for high-rate sodium-ion storage without creating dead void space?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19933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Total Score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245973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83080" y="249631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83080" y="2496312"/>
            <a:ext cx="338785" cy="164592"/>
          </a:xfrm>
          <a:prstGeom prst="roundRect">
            <a:avLst>
              <a:gd name="adj" fmla="val 16667"/>
            </a:avLst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33088" y="245973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" y="300837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783080" y="304495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83080" y="3044952"/>
            <a:ext cx="677570" cy="164592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33088" y="300837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" y="355701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783080" y="359359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83080" y="3593592"/>
            <a:ext cx="1016356" cy="164592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33088" y="35570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808" y="410565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783080" y="414223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83080" y="4142232"/>
            <a:ext cx="1693926" cy="164592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33088" y="410565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9808" y="465429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783080" y="469087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83080" y="4690872"/>
            <a:ext cx="1016356" cy="164592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33088" y="465429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9808" y="54864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Winner: DS 15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92040" y="19019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Item scores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92040" y="2148840"/>
            <a:ext cx="5623560" cy="0"/>
          </a:xfrm>
          <a:prstGeom prst="line">
            <a:avLst/>
          </a:prstGeom>
          <a:noFill/>
          <a:ln w="16510">
            <a:solidFill>
              <a:srgbClr val="1F293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92040" y="2569464"/>
            <a:ext cx="5623560" cy="0"/>
          </a:xfrm>
          <a:prstGeom prst="line">
            <a:avLst/>
          </a:prstGeom>
          <a:noFill/>
          <a:ln w="13970">
            <a:solidFill>
              <a:srgbClr val="0F766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92040" y="2990088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92040" y="3410712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92040" y="3831336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92040" y="4251960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92040" y="4672584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9204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4360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1228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7240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73252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78408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51560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28616" y="221284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980176" y="2212848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Novelty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848856" y="221284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Mechanism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808976" y="221284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Trade-off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8769096" y="221284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Integration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9820656" y="221284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Total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782312" y="2642616"/>
            <a:ext cx="54864" cy="274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28616" y="2633472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980176" y="2633472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848856" y="2633472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7808976" y="2633472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8769096" y="2633472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9820656" y="263347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782312" y="3063240"/>
            <a:ext cx="54864" cy="2743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28616" y="3054096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5980176" y="3054096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6848856" y="3054096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7808976" y="3054096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8769096" y="3054096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9820656" y="3054096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4782312" y="3483864"/>
            <a:ext cx="54864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928616" y="3474720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5980176" y="3474720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6848856" y="3474720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7808976" y="3474720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8769096" y="3474720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9820656" y="347472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4782312" y="3904488"/>
            <a:ext cx="54864" cy="274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928616" y="3895344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5980176" y="3895344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6848856" y="3895344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7808976" y="3895344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8769096" y="3895344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9820656" y="3895344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4782312" y="4325112"/>
            <a:ext cx="54864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928616" y="431596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5980176" y="4315968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80" name="Text 78"/>
          <p:cNvSpPr/>
          <p:nvPr/>
        </p:nvSpPr>
        <p:spPr>
          <a:xfrm>
            <a:off x="6848856" y="431596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81" name="Text 79"/>
          <p:cNvSpPr/>
          <p:nvPr/>
        </p:nvSpPr>
        <p:spPr>
          <a:xfrm>
            <a:off x="7808976" y="431596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82" name="Text 80"/>
          <p:cNvSpPr/>
          <p:nvPr/>
        </p:nvSpPr>
        <p:spPr>
          <a:xfrm>
            <a:off x="8769096" y="431596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83" name="Text 81"/>
          <p:cNvSpPr/>
          <p:nvPr/>
        </p:nvSpPr>
        <p:spPr>
          <a:xfrm>
            <a:off x="9820656" y="431596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50" dirty="0"/>
          </a:p>
        </p:txBody>
      </p:sp>
      <p:sp>
        <p:nvSpPr>
          <p:cNvPr id="84" name="Text 82"/>
          <p:cNvSpPr/>
          <p:nvPr/>
        </p:nvSpPr>
        <p:spPr>
          <a:xfrm>
            <a:off x="4892040" y="4919472"/>
            <a:ext cx="6537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LLM: The output describes a conventional yolk-shell architecture using familiar mechanistic explanations and does not present a novel idea.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EO: The output proposes a competent but standard hierarchical architecture by combining known elements without integrating competing ideas.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EOP: The output proposes a well-established yolk-shell architecture, explaining its known mechanisms and how it reframes the volume-expansion vs dead-space trade-off, but does not introduce novel concepts.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DS: The output explicitly synthesizes two competing design philosophies into a novel hybrid architecture that reframes the core trade-off.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MPDS: The output integrates competing priorities (performance vs. scalability) to form a strategic direction but ultimately adopts a known architecture.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1109960" cy="0"/>
          </a:xfrm>
          <a:prstGeom prst="line">
            <a:avLst/>
          </a:prstGeom>
          <a:noFill/>
          <a:ln w="2794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881360" y="641908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621792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08  PBA(8)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58368" y="1051560"/>
            <a:ext cx="10881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How should PBA-derived hollow sulfide nanocubes with porous walls be integrated with reduced graphene oxide to improve sodium-ion transport and structural robustness without blocking electrolyte access?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19933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Total Score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245973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83080" y="249631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83080" y="2496312"/>
            <a:ext cx="1016356" cy="164592"/>
          </a:xfrm>
          <a:prstGeom prst="roundRect">
            <a:avLst>
              <a:gd name="adj" fmla="val 16667"/>
            </a:avLst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33088" y="245973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" y="300837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783080" y="304495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83080" y="3044952"/>
            <a:ext cx="451714" cy="164592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33088" y="300837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" y="355701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783080" y="359359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83080" y="3593592"/>
            <a:ext cx="1242212" cy="164592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33088" y="35570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808" y="410565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783080" y="414223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83080" y="4142232"/>
            <a:ext cx="1468069" cy="164592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33088" y="410565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9808" y="465429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783080" y="469087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83080" y="4690872"/>
            <a:ext cx="1129284" cy="164592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33088" y="465429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9808" y="54864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Winner: DS 13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92040" y="19019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Item scores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92040" y="2148840"/>
            <a:ext cx="5623560" cy="0"/>
          </a:xfrm>
          <a:prstGeom prst="line">
            <a:avLst/>
          </a:prstGeom>
          <a:noFill/>
          <a:ln w="16510">
            <a:solidFill>
              <a:srgbClr val="1F293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92040" y="2569464"/>
            <a:ext cx="5623560" cy="0"/>
          </a:xfrm>
          <a:prstGeom prst="line">
            <a:avLst/>
          </a:prstGeom>
          <a:noFill/>
          <a:ln w="13970">
            <a:solidFill>
              <a:srgbClr val="0F766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92040" y="2990088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92040" y="3410712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92040" y="3831336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92040" y="4251960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92040" y="4672584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9204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4360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1228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7240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73252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78408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51560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28616" y="221284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980176" y="2212848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Novelty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848856" y="221284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Mechanism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808976" y="221284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Trade-off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8769096" y="221284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Integration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9820656" y="221284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Total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782312" y="2642616"/>
            <a:ext cx="54864" cy="274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28616" y="2633472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980176" y="2633472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848856" y="2633472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7808976" y="2633472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8769096" y="2633472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9820656" y="263347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782312" y="3063240"/>
            <a:ext cx="54864" cy="2743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28616" y="3054096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5980176" y="3054096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6848856" y="3054096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7808976" y="3054096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8769096" y="3054096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9820656" y="3054096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4782312" y="3483864"/>
            <a:ext cx="54864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928616" y="3474720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5980176" y="3474720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6848856" y="3474720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7808976" y="3474720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8769096" y="3474720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9820656" y="347472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4782312" y="3904488"/>
            <a:ext cx="54864" cy="274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928616" y="3895344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5980176" y="3895344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6848856" y="3895344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7808976" y="3895344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8769096" y="3895344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9820656" y="3895344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4782312" y="4325112"/>
            <a:ext cx="54864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928616" y="431596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5980176" y="4315968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80" name="Text 78"/>
          <p:cNvSpPr/>
          <p:nvPr/>
        </p:nvSpPr>
        <p:spPr>
          <a:xfrm>
            <a:off x="6848856" y="431596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81" name="Text 79"/>
          <p:cNvSpPr/>
          <p:nvPr/>
        </p:nvSpPr>
        <p:spPr>
          <a:xfrm>
            <a:off x="7808976" y="431596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82" name="Text 80"/>
          <p:cNvSpPr/>
          <p:nvPr/>
        </p:nvSpPr>
        <p:spPr>
          <a:xfrm>
            <a:off x="8769096" y="431596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83" name="Text 81"/>
          <p:cNvSpPr/>
          <p:nvPr/>
        </p:nvSpPr>
        <p:spPr>
          <a:xfrm>
            <a:off x="9820656" y="431596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50" dirty="0"/>
          </a:p>
        </p:txBody>
      </p:sp>
      <p:sp>
        <p:nvSpPr>
          <p:cNvPr id="84" name="Text 82"/>
          <p:cNvSpPr/>
          <p:nvPr/>
        </p:nvSpPr>
        <p:spPr>
          <a:xfrm>
            <a:off x="4892040" y="4919472"/>
            <a:ext cx="6537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LLM: The output clearly structures and analyzes three distinct, known strategies but presents them as a sequential plan rather than synthesizing them into a single new idea.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EO: This response summarizes conventional, literature-supported methods without proposing a novel idea, mechanism, or integration of competing views.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EOP: The proposal effectively integrates synthesis and performance considerations into a specific architectural plan, but relies on established ideas and mechanisms rather than introducing novel concepts.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DS: The proposal is a novel hybrid that directly synthesizes the strongest elements of two competing approaches to resolve their central conflict.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MPDS: The output makes a well-reasoned choice of one strategy and modifies it based on critiques from the opposing view, showing good integration.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1109960" cy="0"/>
          </a:xfrm>
          <a:prstGeom prst="line">
            <a:avLst/>
          </a:prstGeom>
          <a:noFill/>
          <a:ln w="2794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881360" y="641908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621792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09  Ni-Fe(9)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58368" y="1051560"/>
            <a:ext cx="10881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How should Ni-Fe hydroxycarbonate be encapsulated in carbon nanospheres so that conversion-reaction activity, electrical buffering, and structural stability remain balanced during Li-ion cycling?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19933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Total Score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245973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83080" y="249631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83080" y="2496312"/>
            <a:ext cx="1016356" cy="164592"/>
          </a:xfrm>
          <a:prstGeom prst="roundRect">
            <a:avLst>
              <a:gd name="adj" fmla="val 16667"/>
            </a:avLst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33088" y="245973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" y="300837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783080" y="304495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83080" y="3044952"/>
            <a:ext cx="903427" cy="164592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33088" y="300837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" y="355701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783080" y="359359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83080" y="3593592"/>
            <a:ext cx="677570" cy="164592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33088" y="35570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808" y="410565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783080" y="414223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83080" y="4142232"/>
            <a:ext cx="1693926" cy="164592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33088" y="410565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9808" y="465429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783080" y="469087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83080" y="4690872"/>
            <a:ext cx="1919783" cy="164592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33088" y="465429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9808" y="54864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Winner: MPDS 17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92040" y="19019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Item scores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92040" y="2148840"/>
            <a:ext cx="5623560" cy="0"/>
          </a:xfrm>
          <a:prstGeom prst="line">
            <a:avLst/>
          </a:prstGeom>
          <a:noFill/>
          <a:ln w="16510">
            <a:solidFill>
              <a:srgbClr val="1F293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92040" y="2569464"/>
            <a:ext cx="5623560" cy="0"/>
          </a:xfrm>
          <a:prstGeom prst="line">
            <a:avLst/>
          </a:prstGeom>
          <a:noFill/>
          <a:ln w="13970">
            <a:solidFill>
              <a:srgbClr val="0F766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92040" y="2990088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92040" y="3410712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92040" y="3831336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92040" y="4251960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92040" y="4672584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9204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4360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1228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7240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73252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78408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51560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28616" y="221284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980176" y="2212848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Novelty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848856" y="221284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Mechanism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808976" y="221284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Trade-off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8769096" y="221284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Integration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9820656" y="221284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Total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782312" y="2642616"/>
            <a:ext cx="54864" cy="274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28616" y="2633472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980176" y="2633472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848856" y="2633472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7808976" y="2633472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8769096" y="2633472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9820656" y="263347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782312" y="3063240"/>
            <a:ext cx="54864" cy="2743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28616" y="3054096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5980176" y="3054096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6848856" y="3054096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7808976" y="3054096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8769096" y="3054096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9820656" y="3054096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4782312" y="3483864"/>
            <a:ext cx="54864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928616" y="3474720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5980176" y="3474720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6848856" y="3474720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7808976" y="3474720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8769096" y="3474720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9820656" y="347472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4782312" y="3904488"/>
            <a:ext cx="54864" cy="274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928616" y="3895344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5980176" y="3895344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6848856" y="3895344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7808976" y="3895344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8769096" y="3895344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9820656" y="3895344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4782312" y="4325112"/>
            <a:ext cx="54864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928616" y="431596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5980176" y="4315968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80" name="Text 78"/>
          <p:cNvSpPr/>
          <p:nvPr/>
        </p:nvSpPr>
        <p:spPr>
          <a:xfrm>
            <a:off x="6848856" y="431596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81" name="Text 79"/>
          <p:cNvSpPr/>
          <p:nvPr/>
        </p:nvSpPr>
        <p:spPr>
          <a:xfrm>
            <a:off x="7808976" y="431596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50" dirty="0"/>
          </a:p>
        </p:txBody>
      </p:sp>
      <p:sp>
        <p:nvSpPr>
          <p:cNvPr id="82" name="Text 80"/>
          <p:cNvSpPr/>
          <p:nvPr/>
        </p:nvSpPr>
        <p:spPr>
          <a:xfrm>
            <a:off x="8769096" y="431596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50" dirty="0"/>
          </a:p>
        </p:txBody>
      </p:sp>
      <p:sp>
        <p:nvSpPr>
          <p:cNvPr id="83" name="Text 81"/>
          <p:cNvSpPr/>
          <p:nvPr/>
        </p:nvSpPr>
        <p:spPr>
          <a:xfrm>
            <a:off x="9820656" y="431596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1050" dirty="0"/>
          </a:p>
        </p:txBody>
      </p:sp>
      <p:sp>
        <p:nvSpPr>
          <p:cNvPr id="84" name="Text 82"/>
          <p:cNvSpPr/>
          <p:nvPr/>
        </p:nvSpPr>
        <p:spPr>
          <a:xfrm>
            <a:off x="4892040" y="4919472"/>
            <a:ext cx="6537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LLM: Presents a competent analysis of standard architectures and proposes an incremental modification to the yolk-shell design.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EO: Summarizes a list of known, desirable features for this material system without converging on a single, novel integrated design.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EOP: The output proposes a standard conversion reaction mechanism and a well-known yolk-shell structure, representing a conventional approach to managing known trade-offs without significant novelty or integration.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DS: Proposes a specific core-bishell design with a novel catalytic mechanism to address Ni irreversibility, effectively integrating multiple constraints.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MPDS: Proposes a highly integrative and novel hybrid strategy, combining engineered nanoparticles with a binder-free architecture to solve the problem at two scales.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1109960" cy="0"/>
          </a:xfrm>
          <a:prstGeom prst="line">
            <a:avLst/>
          </a:prstGeom>
          <a:noFill/>
          <a:ln w="2794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881360" y="641908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621792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10  Co3V2O8(10)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58368" y="1051560"/>
            <a:ext cx="10881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What Co3V2O8 nanofiber architecture would best balance active-material loading, electronic conductivity, and mechanical stability for long-life lithium-ion storage?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19933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Total Score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245973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83080" y="249631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83080" y="2496312"/>
            <a:ext cx="1242212" cy="164592"/>
          </a:xfrm>
          <a:prstGeom prst="roundRect">
            <a:avLst>
              <a:gd name="adj" fmla="val 16667"/>
            </a:avLst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33088" y="245973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" y="300837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783080" y="304495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83080" y="3044952"/>
            <a:ext cx="1580998" cy="164592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33088" y="300837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" y="355701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783080" y="359359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83080" y="3593592"/>
            <a:ext cx="903427" cy="164592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33088" y="35570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808" y="410565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783080" y="414223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83080" y="4142232"/>
            <a:ext cx="1355141" cy="164592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33088" y="410565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9808" y="465429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783080" y="469087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83080" y="4690872"/>
            <a:ext cx="1693926" cy="164592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33088" y="465429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9808" y="54864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Winner: MPDS 15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92040" y="19019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Item scores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92040" y="2148840"/>
            <a:ext cx="5623560" cy="0"/>
          </a:xfrm>
          <a:prstGeom prst="line">
            <a:avLst/>
          </a:prstGeom>
          <a:noFill/>
          <a:ln w="16510">
            <a:solidFill>
              <a:srgbClr val="1F293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92040" y="2569464"/>
            <a:ext cx="5623560" cy="0"/>
          </a:xfrm>
          <a:prstGeom prst="line">
            <a:avLst/>
          </a:prstGeom>
          <a:noFill/>
          <a:ln w="13970">
            <a:solidFill>
              <a:srgbClr val="0F766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92040" y="2990088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92040" y="3410712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92040" y="3831336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92040" y="4251960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92040" y="4672584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9204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4360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1228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7240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73252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78408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51560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28616" y="221284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980176" y="2212848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Novelty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848856" y="221284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Mechanism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808976" y="221284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Trade-off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8769096" y="221284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Integration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9820656" y="221284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Total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782312" y="2642616"/>
            <a:ext cx="54864" cy="274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28616" y="2633472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980176" y="2633472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848856" y="2633472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7808976" y="2633472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8769096" y="2633472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9820656" y="263347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782312" y="3063240"/>
            <a:ext cx="54864" cy="2743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28616" y="3054096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5980176" y="3054096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6848856" y="3054096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7808976" y="3054096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8769096" y="3054096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9820656" y="3054096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4782312" y="3483864"/>
            <a:ext cx="54864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928616" y="3474720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5980176" y="3474720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6848856" y="3474720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7808976" y="3474720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8769096" y="3474720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9820656" y="347472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4782312" y="3904488"/>
            <a:ext cx="54864" cy="274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928616" y="3895344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5980176" y="3895344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6848856" y="3895344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7808976" y="3895344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8769096" y="3895344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9820656" y="3895344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4782312" y="4325112"/>
            <a:ext cx="54864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928616" y="431596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5980176" y="4315968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80" name="Text 78"/>
          <p:cNvSpPr/>
          <p:nvPr/>
        </p:nvSpPr>
        <p:spPr>
          <a:xfrm>
            <a:off x="6848856" y="431596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81" name="Text 79"/>
          <p:cNvSpPr/>
          <p:nvPr/>
        </p:nvSpPr>
        <p:spPr>
          <a:xfrm>
            <a:off x="7808976" y="431596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82" name="Text 80"/>
          <p:cNvSpPr/>
          <p:nvPr/>
        </p:nvSpPr>
        <p:spPr>
          <a:xfrm>
            <a:off x="8769096" y="431596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83" name="Text 81"/>
          <p:cNvSpPr/>
          <p:nvPr/>
        </p:nvSpPr>
        <p:spPr>
          <a:xfrm>
            <a:off x="9820656" y="431596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050" dirty="0"/>
          </a:p>
        </p:txBody>
      </p:sp>
      <p:sp>
        <p:nvSpPr>
          <p:cNvPr id="84" name="Text 82"/>
          <p:cNvSpPr/>
          <p:nvPr/>
        </p:nvSpPr>
        <p:spPr>
          <a:xfrm>
            <a:off x="4892040" y="4919472"/>
            <a:ext cx="6537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LLM: The output presents a solid comparative analysis of three architectures, recommending a more complex 'chain-of-beads' structure that offers a new balance point for known trade-offs.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EO: The output proposes a non-obvious, complex architecture by combining multiple design features, and it redefines trade-offs by introducing new design levers like wall porosity and junction welding.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EOP: The output proposes a standard method (creating a carbon composite via controlled pyrolysis) to address a well-known trade-off, using familiar mechanisms without significant novelty.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DS: The output synthesizes two perspectives by prioritizing an electrode-level architecture and incorporating a particle-level design principle, proposing a multi-scale solution.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MPDS: The output creates a genuinely hybrid solution by explicitly integrating two opposing viewpoints, reframing the core trade-off between ideal structure and practical synthesis.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1109960" cy="0"/>
          </a:xfrm>
          <a:prstGeom prst="line">
            <a:avLst/>
          </a:prstGeom>
          <a:noFill/>
          <a:ln w="2794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881360" y="641908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621792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11  Nickel vanadate(11)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58368" y="1051560"/>
            <a:ext cx="10881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How should nickel vanadate microspheres with nanocavities be engineered to shorten diffusion lengths without sacrificing packing density and mechanical robustness?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19933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Total Score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245973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83080" y="249631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83080" y="2496312"/>
            <a:ext cx="1129284" cy="164592"/>
          </a:xfrm>
          <a:prstGeom prst="roundRect">
            <a:avLst>
              <a:gd name="adj" fmla="val 16667"/>
            </a:avLst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33088" y="245973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" y="300837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783080" y="304495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83080" y="3044952"/>
            <a:ext cx="790499" cy="164592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33088" y="300837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" y="355701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783080" y="359359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83080" y="3593592"/>
            <a:ext cx="903427" cy="164592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33088" y="35570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808" y="410565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783080" y="414223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83080" y="4142232"/>
            <a:ext cx="1580998" cy="164592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33088" y="410565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9808" y="465429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783080" y="469087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83080" y="4690872"/>
            <a:ext cx="1580998" cy="164592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33088" y="465429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9808" y="54864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Tie: DS 14, MPDS 14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92040" y="19019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Item scores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92040" y="2148840"/>
            <a:ext cx="5623560" cy="0"/>
          </a:xfrm>
          <a:prstGeom prst="line">
            <a:avLst/>
          </a:prstGeom>
          <a:noFill/>
          <a:ln w="16510">
            <a:solidFill>
              <a:srgbClr val="1F293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92040" y="2569464"/>
            <a:ext cx="5623560" cy="0"/>
          </a:xfrm>
          <a:prstGeom prst="line">
            <a:avLst/>
          </a:prstGeom>
          <a:noFill/>
          <a:ln w="13970">
            <a:solidFill>
              <a:srgbClr val="0F766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92040" y="2990088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92040" y="3410712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92040" y="3831336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92040" y="4251960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92040" y="4672584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9204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4360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1228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7240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73252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78408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51560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28616" y="221284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980176" y="2212848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Novelty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848856" y="221284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Mechanism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808976" y="221284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Trade-off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8769096" y="221284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Integration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9820656" y="221284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Total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782312" y="2642616"/>
            <a:ext cx="54864" cy="274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28616" y="2633472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980176" y="2633472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848856" y="2633472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7808976" y="2633472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8769096" y="2633472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9820656" y="263347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782312" y="3063240"/>
            <a:ext cx="54864" cy="2743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28616" y="3054096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5980176" y="3054096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6848856" y="3054096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7808976" y="3054096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8769096" y="3054096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9820656" y="3054096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4782312" y="3483864"/>
            <a:ext cx="54864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928616" y="3474720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5980176" y="3474720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6848856" y="3474720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7808976" y="3474720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8769096" y="3474720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9820656" y="347472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4782312" y="3904488"/>
            <a:ext cx="54864" cy="274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928616" y="3895344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5980176" y="3895344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6848856" y="3895344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7808976" y="3895344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8769096" y="3895344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9820656" y="3895344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4782312" y="4325112"/>
            <a:ext cx="54864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928616" y="431596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5980176" y="4315968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80" name="Text 78"/>
          <p:cNvSpPr/>
          <p:nvPr/>
        </p:nvSpPr>
        <p:spPr>
          <a:xfrm>
            <a:off x="6848856" y="431596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81" name="Text 79"/>
          <p:cNvSpPr/>
          <p:nvPr/>
        </p:nvSpPr>
        <p:spPr>
          <a:xfrm>
            <a:off x="7808976" y="431596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82" name="Text 80"/>
          <p:cNvSpPr/>
          <p:nvPr/>
        </p:nvSpPr>
        <p:spPr>
          <a:xfrm>
            <a:off x="8769096" y="431596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83" name="Text 81"/>
          <p:cNvSpPr/>
          <p:nvPr/>
        </p:nvSpPr>
        <p:spPr>
          <a:xfrm>
            <a:off x="9820656" y="431596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050" dirty="0"/>
          </a:p>
        </p:txBody>
      </p:sp>
      <p:sp>
        <p:nvSpPr>
          <p:cNvPr id="84" name="Text 82"/>
          <p:cNvSpPr/>
          <p:nvPr/>
        </p:nvSpPr>
        <p:spPr>
          <a:xfrm>
            <a:off x="4892040" y="4919472"/>
            <a:ext cx="6537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LLM: The output combines two standard approaches (carbon matrix and templating) in a logical but not highly original way.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EO: This output summarizes a list of known, parallel strategies without synthesizing them into a novel or integrated hypothesis.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EOP: The output applies a well-established material design strategy (spray-dried, porous, carbon-coated microspheres) to a new material, relying entirely on familiar mechanisms and trade-off mitigation tactics.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DS: The output creates a strong hybrid solution by proposing a two-track plan that pursues a scalable composite while integrating the core concept from the competing view as a future enhancement.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MPDS: The proposal reframes the density-porosity trade-off by using sophisticated precursor engineering to create dense, internally-reinforced spheres with engineered nanocavities.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1109960" cy="0"/>
          </a:xfrm>
          <a:prstGeom prst="line">
            <a:avLst/>
          </a:prstGeom>
          <a:noFill/>
          <a:ln w="2794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881360" y="641908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621792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12  MnSe@C(12)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58368" y="1051560"/>
            <a:ext cx="10881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What MnSe@C yolk-shell design would best manage sodiation-induced expansion, selenium retention, and shell conductivity without overconstraining ion access?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19933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Total Score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245973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83080" y="249631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83080" y="2496312"/>
            <a:ext cx="1016356" cy="164592"/>
          </a:xfrm>
          <a:prstGeom prst="roundRect">
            <a:avLst>
              <a:gd name="adj" fmla="val 16667"/>
            </a:avLst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33088" y="245973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" y="300837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783080" y="304495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83080" y="3044952"/>
            <a:ext cx="451714" cy="164592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33088" y="300837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" y="355701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783080" y="359359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83080" y="3593592"/>
            <a:ext cx="1242212" cy="164592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33088" y="35570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808" y="410565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783080" y="414223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83080" y="4142232"/>
            <a:ext cx="1355141" cy="164592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33088" y="410565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9808" y="465429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783080" y="469087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83080" y="4690872"/>
            <a:ext cx="1468069" cy="164592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33088" y="465429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9808" y="54864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Winner: MPDS 13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92040" y="19019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Item scores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92040" y="2148840"/>
            <a:ext cx="5623560" cy="0"/>
          </a:xfrm>
          <a:prstGeom prst="line">
            <a:avLst/>
          </a:prstGeom>
          <a:noFill/>
          <a:ln w="16510">
            <a:solidFill>
              <a:srgbClr val="1F293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92040" y="2569464"/>
            <a:ext cx="5623560" cy="0"/>
          </a:xfrm>
          <a:prstGeom prst="line">
            <a:avLst/>
          </a:prstGeom>
          <a:noFill/>
          <a:ln w="13970">
            <a:solidFill>
              <a:srgbClr val="0F766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92040" y="2990088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92040" y="3410712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92040" y="3831336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92040" y="4251960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92040" y="4672584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9204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4360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1228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7240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73252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78408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51560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28616" y="221284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980176" y="2212848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Novelty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848856" y="221284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Mechanism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808976" y="221284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Trade-off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8769096" y="221284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Integration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9820656" y="221284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Total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782312" y="2642616"/>
            <a:ext cx="54864" cy="274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28616" y="2633472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980176" y="2633472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848856" y="2633472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7808976" y="2633472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8769096" y="2633472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9820656" y="263347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782312" y="3063240"/>
            <a:ext cx="54864" cy="2743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28616" y="3054096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5980176" y="3054096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6848856" y="3054096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7808976" y="3054096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8769096" y="3054096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9820656" y="3054096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4782312" y="3483864"/>
            <a:ext cx="54864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928616" y="3474720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5980176" y="3474720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6848856" y="3474720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7808976" y="3474720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8769096" y="3474720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9820656" y="347472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4782312" y="3904488"/>
            <a:ext cx="54864" cy="274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928616" y="3895344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5980176" y="3895344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6848856" y="3895344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7808976" y="3895344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8769096" y="3895344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9820656" y="3895344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4782312" y="4325112"/>
            <a:ext cx="54864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928616" y="431596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5980176" y="4315968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80" name="Text 78"/>
          <p:cNvSpPr/>
          <p:nvPr/>
        </p:nvSpPr>
        <p:spPr>
          <a:xfrm>
            <a:off x="6848856" y="431596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81" name="Text 79"/>
          <p:cNvSpPr/>
          <p:nvPr/>
        </p:nvSpPr>
        <p:spPr>
          <a:xfrm>
            <a:off x="7808976" y="431596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82" name="Text 80"/>
          <p:cNvSpPr/>
          <p:nvPr/>
        </p:nvSpPr>
        <p:spPr>
          <a:xfrm>
            <a:off x="8769096" y="431596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83" name="Text 81"/>
          <p:cNvSpPr/>
          <p:nvPr/>
        </p:nvSpPr>
        <p:spPr>
          <a:xfrm>
            <a:off x="9820656" y="431596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050" dirty="0"/>
          </a:p>
        </p:txBody>
      </p:sp>
      <p:sp>
        <p:nvSpPr>
          <p:cNvPr id="84" name="Text 82"/>
          <p:cNvSpPr/>
          <p:nvPr/>
        </p:nvSpPr>
        <p:spPr>
          <a:xfrm>
            <a:off x="4892040" y="4919472"/>
            <a:ext cx="6537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LLM: The proposal for a hollow yolk of nanocrystallites is a meaningfully different idea with a more original hierarchical strain-buffering mechanism.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EO: The output describes a standard, well-established yolk-shell design by combining familiar components without offering a novel concept or mechanism.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EOP: The proposal integrates process constraints and material design into a coherent, practical synthesis route for a known architecture, but does not offer novel mechanisms or a new conceptual approach.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DS: The output creates a strong hybrid design that explicitly and effectively synthesizes key structural and chemical features from competing perspectives.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MPDS: The output explicitly integrates two competing design philosophies, making a reasoned choice for a multi-yolk architecture based on a clear analysis of trade-offs.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1109960" cy="0"/>
          </a:xfrm>
          <a:prstGeom prst="line">
            <a:avLst/>
          </a:prstGeom>
          <a:noFill/>
          <a:ln w="2794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881360" y="641908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621792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13  CoSeO3(13)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58368" y="1051560"/>
            <a:ext cx="10881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How should cobalt selenite-carbon porous nanofibers be designed to manage conversion strain and conductivity loss in sodium-ion anodes while preserving fast transport?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19933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Total Score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245973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83080" y="249631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83080" y="2496312"/>
            <a:ext cx="338785" cy="164592"/>
          </a:xfrm>
          <a:prstGeom prst="roundRect">
            <a:avLst>
              <a:gd name="adj" fmla="val 16667"/>
            </a:avLst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33088" y="245973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" y="300837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783080" y="304495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83080" y="3044952"/>
            <a:ext cx="338785" cy="164592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33088" y="300837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" y="355701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783080" y="359359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83080" y="3593592"/>
            <a:ext cx="1016356" cy="164592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33088" y="35570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808" y="410565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783080" y="414223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83080" y="4142232"/>
            <a:ext cx="1355141" cy="164592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33088" y="410565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9808" y="465429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783080" y="469087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83080" y="4690872"/>
            <a:ext cx="1468069" cy="164592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33088" y="465429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9808" y="54864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Winner: MPDS 13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92040" y="19019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Item scores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92040" y="2148840"/>
            <a:ext cx="5623560" cy="0"/>
          </a:xfrm>
          <a:prstGeom prst="line">
            <a:avLst/>
          </a:prstGeom>
          <a:noFill/>
          <a:ln w="16510">
            <a:solidFill>
              <a:srgbClr val="1F293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92040" y="2569464"/>
            <a:ext cx="5623560" cy="0"/>
          </a:xfrm>
          <a:prstGeom prst="line">
            <a:avLst/>
          </a:prstGeom>
          <a:noFill/>
          <a:ln w="13970">
            <a:solidFill>
              <a:srgbClr val="0F766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92040" y="2990088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92040" y="3410712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92040" y="3831336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92040" y="4251960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92040" y="4672584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9204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4360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1228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7240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73252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78408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51560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28616" y="221284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980176" y="2212848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Novelty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848856" y="221284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Mechanism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808976" y="221284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Trade-off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8769096" y="221284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Integration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9820656" y="221284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Total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782312" y="2642616"/>
            <a:ext cx="54864" cy="274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28616" y="2633472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980176" y="2633472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848856" y="2633472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7808976" y="2633472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8769096" y="2633472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9820656" y="263347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782312" y="3063240"/>
            <a:ext cx="54864" cy="2743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28616" y="3054096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5980176" y="3054096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6848856" y="3054096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7808976" y="3054096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8769096" y="3054096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9820656" y="3054096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4782312" y="3483864"/>
            <a:ext cx="54864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928616" y="3474720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5980176" y="3474720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6848856" y="3474720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7808976" y="3474720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8769096" y="3474720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9820656" y="347472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4782312" y="3904488"/>
            <a:ext cx="54864" cy="274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928616" y="3895344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5980176" y="3895344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6848856" y="3895344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7808976" y="3895344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8769096" y="3895344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9820656" y="3895344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4782312" y="4325112"/>
            <a:ext cx="54864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928616" y="431596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5980176" y="4315968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80" name="Text 78"/>
          <p:cNvSpPr/>
          <p:nvPr/>
        </p:nvSpPr>
        <p:spPr>
          <a:xfrm>
            <a:off x="6848856" y="431596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81" name="Text 79"/>
          <p:cNvSpPr/>
          <p:nvPr/>
        </p:nvSpPr>
        <p:spPr>
          <a:xfrm>
            <a:off x="7808976" y="431596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82" name="Text 80"/>
          <p:cNvSpPr/>
          <p:nvPr/>
        </p:nvSpPr>
        <p:spPr>
          <a:xfrm>
            <a:off x="8769096" y="431596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83" name="Text 81"/>
          <p:cNvSpPr/>
          <p:nvPr/>
        </p:nvSpPr>
        <p:spPr>
          <a:xfrm>
            <a:off x="9820656" y="431596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050" dirty="0"/>
          </a:p>
        </p:txBody>
      </p:sp>
      <p:sp>
        <p:nvSpPr>
          <p:cNvPr id="84" name="Text 82"/>
          <p:cNvSpPr/>
          <p:nvPr/>
        </p:nvSpPr>
        <p:spPr>
          <a:xfrm>
            <a:off x="4892040" y="4919472"/>
            <a:ext cx="6537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LLM: The output presents a well-structured but standard design proposal based on established engineering practices, lacking novelty or the synthesis of different perspectives.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EO: This response provides a competent summary of conventional design principles for this material class but does not offer a novel idea or integrate competing viewpoints.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EOP: The proposal combines standard synthesis techniques and adapts a known mechanism from an analogue, showing solid integration but limited novelty.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DS: The output creates a solid hybrid solution by explicitly combining the superior material from one perspective with the superior architecture from another.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MPDS: This output proposes a nuanced hybrid that uses one perspective's reasoning (localized strain) to refine the other's proposed architecture, showing strong integrative logic.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1109960" cy="0"/>
          </a:xfrm>
          <a:prstGeom prst="line">
            <a:avLst/>
          </a:prstGeom>
          <a:noFill/>
          <a:ln w="2794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881360" y="641908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621792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14  Co3O4(14)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58368" y="1051560"/>
            <a:ext cx="10881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What hollow Co3O4 secondary structure would best balance nanoscale diffusion benefits with microscale density and cycling stability in Li-ion anodes?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19933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Total Score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245973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83080" y="249631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83080" y="2496312"/>
            <a:ext cx="1580998" cy="164592"/>
          </a:xfrm>
          <a:prstGeom prst="roundRect">
            <a:avLst>
              <a:gd name="adj" fmla="val 16667"/>
            </a:avLst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33088" y="245973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" y="300837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783080" y="304495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83080" y="3044952"/>
            <a:ext cx="1242212" cy="164592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33088" y="300837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" y="355701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783080" y="359359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83080" y="3593592"/>
            <a:ext cx="790499" cy="164592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33088" y="35570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808" y="410565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783080" y="414223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83080" y="4142232"/>
            <a:ext cx="1355141" cy="164592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33088" y="410565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9808" y="465429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783080" y="469087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83080" y="4690872"/>
            <a:ext cx="1693926" cy="164592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33088" y="465429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9808" y="54864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Winner: MPDS 15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92040" y="19019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Item scores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92040" y="2148840"/>
            <a:ext cx="5623560" cy="0"/>
          </a:xfrm>
          <a:prstGeom prst="line">
            <a:avLst/>
          </a:prstGeom>
          <a:noFill/>
          <a:ln w="16510">
            <a:solidFill>
              <a:srgbClr val="1F293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92040" y="2569464"/>
            <a:ext cx="5623560" cy="0"/>
          </a:xfrm>
          <a:prstGeom prst="line">
            <a:avLst/>
          </a:prstGeom>
          <a:noFill/>
          <a:ln w="13970">
            <a:solidFill>
              <a:srgbClr val="0F766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92040" y="2990088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92040" y="3410712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92040" y="3831336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92040" y="4251960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92040" y="4672584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9204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4360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1228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7240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73252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78408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51560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28616" y="221284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980176" y="2212848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Novelty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848856" y="221284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Mechanism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808976" y="221284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Trade-off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8769096" y="221284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Integration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9820656" y="221284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Total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782312" y="2642616"/>
            <a:ext cx="54864" cy="274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28616" y="2633472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980176" y="2633472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848856" y="2633472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7808976" y="2633472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8769096" y="2633472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9820656" y="263347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782312" y="3063240"/>
            <a:ext cx="54864" cy="2743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28616" y="3054096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5980176" y="3054096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6848856" y="3054096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7808976" y="3054096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8769096" y="3054096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9820656" y="3054096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4782312" y="3483864"/>
            <a:ext cx="54864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928616" y="3474720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5980176" y="3474720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6848856" y="3474720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7808976" y="3474720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8769096" y="3474720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9820656" y="347472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4782312" y="3904488"/>
            <a:ext cx="54864" cy="274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928616" y="3895344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5980176" y="3895344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6848856" y="3895344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7808976" y="3895344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8769096" y="3895344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9820656" y="3895344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4782312" y="4325112"/>
            <a:ext cx="54864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928616" y="431596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5980176" y="4315968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80" name="Text 78"/>
          <p:cNvSpPr/>
          <p:nvPr/>
        </p:nvSpPr>
        <p:spPr>
          <a:xfrm>
            <a:off x="6848856" y="431596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81" name="Text 79"/>
          <p:cNvSpPr/>
          <p:nvPr/>
        </p:nvSpPr>
        <p:spPr>
          <a:xfrm>
            <a:off x="7808976" y="431596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82" name="Text 80"/>
          <p:cNvSpPr/>
          <p:nvPr/>
        </p:nvSpPr>
        <p:spPr>
          <a:xfrm>
            <a:off x="8769096" y="431596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50" dirty="0"/>
          </a:p>
        </p:txBody>
      </p:sp>
      <p:sp>
        <p:nvSpPr>
          <p:cNvPr id="83" name="Text 81"/>
          <p:cNvSpPr/>
          <p:nvPr/>
        </p:nvSpPr>
        <p:spPr>
          <a:xfrm>
            <a:off x="9820656" y="431596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050" dirty="0"/>
          </a:p>
        </p:txBody>
      </p:sp>
      <p:sp>
        <p:nvSpPr>
          <p:cNvPr id="84" name="Text 82"/>
          <p:cNvSpPr/>
          <p:nvPr/>
        </p:nvSpPr>
        <p:spPr>
          <a:xfrm>
            <a:off x="4892040" y="4919472"/>
            <a:ext cx="6537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LLM: The proposal is distinguished by a non-obvious 'hollow-in-hollow' architecture and a more original mechanistic rationale for strain mitigation.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EO: This is a solid, well-justified proposal that integrates multiple design requirements into a coherent but conventional hierarchical structure.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EOP: The output provides a competent, mechanistically detailed explanation of a known synthesis strategy and its associated trade-offs, but does not introduce a novel idea or a new way to reframe the core problems.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DS: The output creates a strong hybrid solution by explicitly integrating the architectural and material concepts from two opposing viewpoints.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MPDS: This output provides an exceptional synthesis that reframes the core research problem and trade-offs, creating a new strategic direction from competing philosophies.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1109960" cy="0"/>
          </a:xfrm>
          <a:prstGeom prst="line">
            <a:avLst/>
          </a:prstGeom>
          <a:noFill/>
          <a:ln w="2794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881360" y="641908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621792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15  Li-Se(15)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58368" y="1051560"/>
            <a:ext cx="10881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How should selenium be hosted in MOF-derived bimodally porous carbon nanofibers to balance Se confinement, ion transport, and electronic percolation in Li-Se cathodes?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19933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Total Score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245973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83080" y="249631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83080" y="2496312"/>
            <a:ext cx="564642" cy="164592"/>
          </a:xfrm>
          <a:prstGeom prst="roundRect">
            <a:avLst>
              <a:gd name="adj" fmla="val 16667"/>
            </a:avLst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33088" y="245973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" y="300837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783080" y="304495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83080" y="3044952"/>
            <a:ext cx="225857" cy="164592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33088" y="300837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" y="355701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783080" y="359359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83080" y="3593592"/>
            <a:ext cx="1129284" cy="164592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33088" y="35570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808" y="410565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783080" y="414223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83080" y="4142232"/>
            <a:ext cx="1468069" cy="164592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33088" y="410565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9808" y="465429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783080" y="469087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83080" y="4690872"/>
            <a:ext cx="1468069" cy="164592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33088" y="465429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9808" y="54864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Tie: DS 13, MPDS 13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92040" y="19019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Item scores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92040" y="2148840"/>
            <a:ext cx="5623560" cy="0"/>
          </a:xfrm>
          <a:prstGeom prst="line">
            <a:avLst/>
          </a:prstGeom>
          <a:noFill/>
          <a:ln w="16510">
            <a:solidFill>
              <a:srgbClr val="1F293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92040" y="2569464"/>
            <a:ext cx="5623560" cy="0"/>
          </a:xfrm>
          <a:prstGeom prst="line">
            <a:avLst/>
          </a:prstGeom>
          <a:noFill/>
          <a:ln w="13970">
            <a:solidFill>
              <a:srgbClr val="0F766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92040" y="2990088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92040" y="3410712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92040" y="3831336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92040" y="4251960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92040" y="4672584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9204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4360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1228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7240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73252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78408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51560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28616" y="221284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980176" y="2212848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Novelty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848856" y="221284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Mechanism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808976" y="221284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Trade-off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8769096" y="221284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Integration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9820656" y="221284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Total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782312" y="2642616"/>
            <a:ext cx="54864" cy="274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28616" y="2633472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980176" y="2633472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848856" y="2633472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7808976" y="2633472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8769096" y="2633472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9820656" y="263347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782312" y="3063240"/>
            <a:ext cx="54864" cy="2743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28616" y="3054096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5980176" y="3054096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6848856" y="3054096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7808976" y="3054096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8769096" y="3054096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9820656" y="3054096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4782312" y="3483864"/>
            <a:ext cx="54864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928616" y="3474720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5980176" y="3474720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6848856" y="3474720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7808976" y="3474720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8769096" y="3474720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9820656" y="347472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4782312" y="3904488"/>
            <a:ext cx="54864" cy="274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928616" y="3895344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5980176" y="3895344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6848856" y="3895344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7808976" y="3895344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8769096" y="3895344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9820656" y="3895344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4782312" y="4325112"/>
            <a:ext cx="54864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928616" y="431596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5980176" y="4315968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80" name="Text 78"/>
          <p:cNvSpPr/>
          <p:nvPr/>
        </p:nvSpPr>
        <p:spPr>
          <a:xfrm>
            <a:off x="6848856" y="431596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81" name="Text 79"/>
          <p:cNvSpPr/>
          <p:nvPr/>
        </p:nvSpPr>
        <p:spPr>
          <a:xfrm>
            <a:off x="7808976" y="431596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82" name="Text 80"/>
          <p:cNvSpPr/>
          <p:nvPr/>
        </p:nvSpPr>
        <p:spPr>
          <a:xfrm>
            <a:off x="8769096" y="431596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83" name="Text 81"/>
          <p:cNvSpPr/>
          <p:nvPr/>
        </p:nvSpPr>
        <p:spPr>
          <a:xfrm>
            <a:off x="9820656" y="431596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050" dirty="0"/>
          </a:p>
        </p:txBody>
      </p:sp>
      <p:sp>
        <p:nvSpPr>
          <p:cNvPr id="84" name="Text 82"/>
          <p:cNvSpPr/>
          <p:nvPr/>
        </p:nvSpPr>
        <p:spPr>
          <a:xfrm>
            <a:off x="4892040" y="4919472"/>
            <a:ext cx="6537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LLM: The output provides a competent but conventional overview of standard strategies and trade-offs without proposing a novel idea or integration.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EO: This output is a summary of established concepts and literature, presenting a single consensus view without offering a novel hypothesis or integration of competing ideas.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EOP: The output proposes a competent synthesis of established strategies, assigning distinct roles to different structural features to manage a key trade-off, but it does not introduce novel ideas or mechanisms.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DS: The output synthesizes competing perspectives into a coherent, hybrid research strategy that reframes key trade-offs and prioritizes investigation of a more novel mechanism.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MPDS: The output effectively integrates two competing mechanistic philosophies into a risk-managed research portfolio, reframing the decision as a strategic allocation of resources.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1109960" cy="0"/>
          </a:xfrm>
          <a:prstGeom prst="line">
            <a:avLst/>
          </a:prstGeom>
          <a:noFill/>
          <a:ln w="2794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881360" y="641908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621792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16  N-C Li Se(16)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58368" y="1051560"/>
            <a:ext cx="10881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How should MOF-derived porous carbon polyhedrons and crumpled graphene balls be combined to host selenium without sacrificing electrolyte access, conductivity, or structural integrity?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19933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Total Score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245973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83080" y="249631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83080" y="2496312"/>
            <a:ext cx="1129284" cy="164592"/>
          </a:xfrm>
          <a:prstGeom prst="roundRect">
            <a:avLst>
              <a:gd name="adj" fmla="val 16667"/>
            </a:avLst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33088" y="245973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" y="300837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783080" y="304495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83080" y="3044952"/>
            <a:ext cx="903427" cy="164592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33088" y="300837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" y="355701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783080" y="359359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83080" y="3593592"/>
            <a:ext cx="790499" cy="164592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33088" y="35570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808" y="410565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783080" y="414223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83080" y="4142232"/>
            <a:ext cx="1580998" cy="164592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33088" y="410565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9808" y="465429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783080" y="469087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83080" y="4690872"/>
            <a:ext cx="1468069" cy="164592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33088" y="465429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9808" y="54864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Winner: DS 14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92040" y="19019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Item scores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92040" y="2148840"/>
            <a:ext cx="5623560" cy="0"/>
          </a:xfrm>
          <a:prstGeom prst="line">
            <a:avLst/>
          </a:prstGeom>
          <a:noFill/>
          <a:ln w="16510">
            <a:solidFill>
              <a:srgbClr val="1F293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92040" y="2569464"/>
            <a:ext cx="5623560" cy="0"/>
          </a:xfrm>
          <a:prstGeom prst="line">
            <a:avLst/>
          </a:prstGeom>
          <a:noFill/>
          <a:ln w="13970">
            <a:solidFill>
              <a:srgbClr val="0F766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92040" y="2990088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92040" y="3410712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92040" y="3831336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92040" y="4251960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92040" y="4672584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9204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4360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1228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7240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73252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78408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51560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28616" y="221284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980176" y="2212848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Novelty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848856" y="221284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Mechanism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808976" y="221284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Trade-off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8769096" y="221284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Integration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9820656" y="221284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Total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782312" y="2642616"/>
            <a:ext cx="54864" cy="274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28616" y="2633472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980176" y="2633472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848856" y="2633472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7808976" y="2633472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8769096" y="2633472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9820656" y="263347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782312" y="3063240"/>
            <a:ext cx="54864" cy="2743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28616" y="3054096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5980176" y="3054096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6848856" y="3054096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7808976" y="3054096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8769096" y="3054096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9820656" y="3054096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4782312" y="3483864"/>
            <a:ext cx="54864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928616" y="3474720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5980176" y="3474720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6848856" y="3474720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7808976" y="3474720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8769096" y="3474720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9820656" y="347472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4782312" y="3904488"/>
            <a:ext cx="54864" cy="274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928616" y="3895344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5980176" y="3895344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6848856" y="3895344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7808976" y="3895344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8769096" y="3895344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9820656" y="3895344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4782312" y="4325112"/>
            <a:ext cx="54864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928616" y="431596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5980176" y="4315968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80" name="Text 78"/>
          <p:cNvSpPr/>
          <p:nvPr/>
        </p:nvSpPr>
        <p:spPr>
          <a:xfrm>
            <a:off x="6848856" y="431596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81" name="Text 79"/>
          <p:cNvSpPr/>
          <p:nvPr/>
        </p:nvSpPr>
        <p:spPr>
          <a:xfrm>
            <a:off x="7808976" y="431596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82" name="Text 80"/>
          <p:cNvSpPr/>
          <p:nvPr/>
        </p:nvSpPr>
        <p:spPr>
          <a:xfrm>
            <a:off x="8769096" y="431596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83" name="Text 81"/>
          <p:cNvSpPr/>
          <p:nvPr/>
        </p:nvSpPr>
        <p:spPr>
          <a:xfrm>
            <a:off x="9820656" y="431596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050" dirty="0"/>
          </a:p>
        </p:txBody>
      </p:sp>
      <p:sp>
        <p:nvSpPr>
          <p:cNvPr id="84" name="Text 82"/>
          <p:cNvSpPr/>
          <p:nvPr/>
        </p:nvSpPr>
        <p:spPr>
          <a:xfrm>
            <a:off x="4892040" y="4919472"/>
            <a:ext cx="6537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LLM: A structured debate that effectively analyzes trade-offs but results in a standard good-practice recommendation rather than a novel synthesis.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EO: A competent but conventional summary of established design principles without a distinct, integrative hypothesis.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EOP: The output competently applies established design principles and mechanisms to the given materials, integrating them into a synergistic composite, but does not introduce novel ideas, mechanisms, or trade-off reframing.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DS: An excellent synthesis that creates a novel process by combining the in-situ growth method of one perspective with the 3D web architecture of another, reframing a key trade-off.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MPDS: A strong hybrid proposal that explicitly integrates two competing designs by combining the particle type from one with the framework from the other.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1109960" cy="0"/>
          </a:xfrm>
          <a:prstGeom prst="line">
            <a:avLst/>
          </a:prstGeom>
          <a:noFill/>
          <a:ln w="2794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881360" y="641908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621792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17  N-C Li Se(17)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58368" y="1051560"/>
            <a:ext cx="10881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What trimodally porous N-doped carbon framework would best immobilize selenium while preserving electrolyte penetration and electron transport in Li-Se cathodes?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19933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Total Score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245973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83080" y="249631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83080" y="2496312"/>
            <a:ext cx="790499" cy="164592"/>
          </a:xfrm>
          <a:prstGeom prst="roundRect">
            <a:avLst>
              <a:gd name="adj" fmla="val 16667"/>
            </a:avLst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33088" y="245973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" y="300837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783080" y="304495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83080" y="3044952"/>
            <a:ext cx="1016356" cy="164592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33088" y="300837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" y="355701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783080" y="359359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83080" y="3593592"/>
            <a:ext cx="790499" cy="164592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33088" y="35570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808" y="410565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783080" y="414223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83080" y="4142232"/>
            <a:ext cx="564642" cy="164592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33088" y="410565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9808" y="465429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783080" y="469087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83080" y="4690872"/>
            <a:ext cx="1468069" cy="164592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33088" y="465429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9808" y="54864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Winner: MPDS 13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92040" y="19019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Item scores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92040" y="2148840"/>
            <a:ext cx="5623560" cy="0"/>
          </a:xfrm>
          <a:prstGeom prst="line">
            <a:avLst/>
          </a:prstGeom>
          <a:noFill/>
          <a:ln w="16510">
            <a:solidFill>
              <a:srgbClr val="1F293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92040" y="2569464"/>
            <a:ext cx="5623560" cy="0"/>
          </a:xfrm>
          <a:prstGeom prst="line">
            <a:avLst/>
          </a:prstGeom>
          <a:noFill/>
          <a:ln w="13970">
            <a:solidFill>
              <a:srgbClr val="0F766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92040" y="2990088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92040" y="3410712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92040" y="3831336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92040" y="4251960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92040" y="4672584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9204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4360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1228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7240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73252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78408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51560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28616" y="221284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980176" y="2212848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Novelty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848856" y="221284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Mechanism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808976" y="221284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Trade-off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8769096" y="221284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Integration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9820656" y="221284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Total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782312" y="2642616"/>
            <a:ext cx="54864" cy="274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28616" y="2633472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980176" y="2633472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848856" y="2633472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7808976" y="2633472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8769096" y="2633472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9820656" y="263347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782312" y="3063240"/>
            <a:ext cx="54864" cy="2743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28616" y="3054096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5980176" y="3054096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6848856" y="3054096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7808976" y="3054096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8769096" y="3054096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9820656" y="3054096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4782312" y="3483864"/>
            <a:ext cx="54864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928616" y="3474720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5980176" y="3474720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6848856" y="3474720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7808976" y="3474720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8769096" y="3474720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9820656" y="347472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4782312" y="3904488"/>
            <a:ext cx="54864" cy="274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928616" y="3895344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5980176" y="3895344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6848856" y="3895344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7808976" y="3895344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8769096" y="3895344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9820656" y="3895344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4782312" y="4325112"/>
            <a:ext cx="54864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928616" y="431596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5980176" y="4315968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80" name="Text 78"/>
          <p:cNvSpPr/>
          <p:nvPr/>
        </p:nvSpPr>
        <p:spPr>
          <a:xfrm>
            <a:off x="6848856" y="431596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81" name="Text 79"/>
          <p:cNvSpPr/>
          <p:nvPr/>
        </p:nvSpPr>
        <p:spPr>
          <a:xfrm>
            <a:off x="7808976" y="431596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82" name="Text 80"/>
          <p:cNvSpPr/>
          <p:nvPr/>
        </p:nvSpPr>
        <p:spPr>
          <a:xfrm>
            <a:off x="8769096" y="431596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83" name="Text 81"/>
          <p:cNvSpPr/>
          <p:nvPr/>
        </p:nvSpPr>
        <p:spPr>
          <a:xfrm>
            <a:off x="9820656" y="431596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050" dirty="0"/>
          </a:p>
        </p:txBody>
      </p:sp>
      <p:sp>
        <p:nvSpPr>
          <p:cNvPr id="84" name="Text 82"/>
          <p:cNvSpPr/>
          <p:nvPr/>
        </p:nvSpPr>
        <p:spPr>
          <a:xfrm>
            <a:off x="4892040" y="4919472"/>
            <a:ext cx="6537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LLM: The output effectively analyzes trade-offs between different options but recommends a conventional approach without synthesis.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EO: The output proposes a reasonable hybrid of two known materials but lacks significant novelty or deep integration.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EOP: The response proposes a standard solution (ZIF-derived carbon) using well-established mechanisms and a conventional approach to managing trade-offs.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DS: The output chooses one existing proposal over another without reframing trade-offs or integrating competing ideas.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MPDS: The output synthesizes two competing views into a novel tube-in-tube architecture with a clear mechanistic rationale.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1109960" cy="0"/>
          </a:xfrm>
          <a:prstGeom prst="line">
            <a:avLst/>
          </a:prstGeom>
          <a:noFill/>
          <a:ln w="2794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881360" y="641908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621792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18  HC PIB(18)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58368" y="1051560"/>
            <a:ext cx="10881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How should metal sulfide nanoparticles be encapsulated inside hollow carbon nanosphere-aggregated microspheres to stabilize potassium-ion storage without choking transport or wasting density?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19933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Total Score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245973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83080" y="249631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83080" y="2496312"/>
            <a:ext cx="1580998" cy="164592"/>
          </a:xfrm>
          <a:prstGeom prst="roundRect">
            <a:avLst>
              <a:gd name="adj" fmla="val 16667"/>
            </a:avLst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33088" y="245973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" y="300837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783080" y="304495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83080" y="3044952"/>
            <a:ext cx="564642" cy="164592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33088" y="300837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" y="355701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783080" y="359359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83080" y="3593592"/>
            <a:ext cx="1129284" cy="164592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33088" y="35570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808" y="410565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783080" y="414223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83080" y="4142232"/>
            <a:ext cx="1580998" cy="164592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33088" y="410565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9808" y="465429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783080" y="469087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83080" y="4690872"/>
            <a:ext cx="1919783" cy="164592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33088" y="465429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9808" y="54864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Winner: MPDS 17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92040" y="19019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Item scores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92040" y="2148840"/>
            <a:ext cx="5623560" cy="0"/>
          </a:xfrm>
          <a:prstGeom prst="line">
            <a:avLst/>
          </a:prstGeom>
          <a:noFill/>
          <a:ln w="16510">
            <a:solidFill>
              <a:srgbClr val="1F293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92040" y="2569464"/>
            <a:ext cx="5623560" cy="0"/>
          </a:xfrm>
          <a:prstGeom prst="line">
            <a:avLst/>
          </a:prstGeom>
          <a:noFill/>
          <a:ln w="13970">
            <a:solidFill>
              <a:srgbClr val="0F766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92040" y="2990088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92040" y="3410712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92040" y="3831336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92040" y="4251960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92040" y="4672584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9204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4360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1228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7240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73252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78408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51560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28616" y="221284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980176" y="2212848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Novelty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848856" y="221284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Mechanism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808976" y="221284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Trade-off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8769096" y="221284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Integration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9820656" y="221284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Total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782312" y="2642616"/>
            <a:ext cx="54864" cy="274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28616" y="2633472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980176" y="2633472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848856" y="2633472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7808976" y="2633472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8769096" y="2633472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9820656" y="263347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782312" y="3063240"/>
            <a:ext cx="54864" cy="2743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28616" y="3054096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5980176" y="3054096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6848856" y="3054096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7808976" y="3054096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8769096" y="3054096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9820656" y="3054096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4782312" y="3483864"/>
            <a:ext cx="54864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928616" y="3474720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5980176" y="3474720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6848856" y="3474720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7808976" y="3474720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8769096" y="3474720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9820656" y="347472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4782312" y="3904488"/>
            <a:ext cx="54864" cy="274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928616" y="3895344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5980176" y="3895344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6848856" y="3895344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7808976" y="3895344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8769096" y="3895344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9820656" y="3895344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4782312" y="4325112"/>
            <a:ext cx="54864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928616" y="431596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5980176" y="4315968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80" name="Text 78"/>
          <p:cNvSpPr/>
          <p:nvPr/>
        </p:nvSpPr>
        <p:spPr>
          <a:xfrm>
            <a:off x="6848856" y="431596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81" name="Text 79"/>
          <p:cNvSpPr/>
          <p:nvPr/>
        </p:nvSpPr>
        <p:spPr>
          <a:xfrm>
            <a:off x="7808976" y="431596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82" name="Text 80"/>
          <p:cNvSpPr/>
          <p:nvPr/>
        </p:nvSpPr>
        <p:spPr>
          <a:xfrm>
            <a:off x="8769096" y="431596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50" dirty="0"/>
          </a:p>
        </p:txBody>
      </p:sp>
      <p:sp>
        <p:nvSpPr>
          <p:cNvPr id="83" name="Text 81"/>
          <p:cNvSpPr/>
          <p:nvPr/>
        </p:nvSpPr>
        <p:spPr>
          <a:xfrm>
            <a:off x="9820656" y="431596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1050" dirty="0"/>
          </a:p>
        </p:txBody>
      </p:sp>
      <p:sp>
        <p:nvSpPr>
          <p:cNvPr id="84" name="Text 82"/>
          <p:cNvSpPr/>
          <p:nvPr/>
        </p:nvSpPr>
        <p:spPr>
          <a:xfrm>
            <a:off x="4892040" y="4919472"/>
            <a:ext cx="6537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LLM: This output excels at reframing a core trade-off and proposes a logical hybrid structure based on a clear analysis of two abstract strategies.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EO: This output is a descriptive list of conventional strategies and known trade-offs without proposing a novel, integrated solution.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EOP: The proposal competently combines established concepts (yolk-shell, hierarchical porosity, N-doping) but lacks significant novelty in its core ideas or mechanistic rationale.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DS: The output provides an excellent synthesis of two competing frameworks, resulting in a well-justified hybrid design, though the core components are established.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MPDS: The proposal for a heterostructure-embedded multi-shelled architecture is a non-obvious and highly specific synthesis of two advanced, competing concepts.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1109960" cy="0"/>
          </a:xfrm>
          <a:prstGeom prst="line">
            <a:avLst/>
          </a:prstGeom>
          <a:noFill/>
          <a:ln w="2794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881360" y="641908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621792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19  Fe2O3_Se(19)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58368" y="1051560"/>
            <a:ext cx="10881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How should porous Fe2O3/Se composite nanorods with internal nanovoids be engineered so that conversion capacity, strain buffering, and one-dimensional charge transport stay balanced?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19933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Total Score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245973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83080" y="249631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83080" y="2496312"/>
            <a:ext cx="564642" cy="164592"/>
          </a:xfrm>
          <a:prstGeom prst="roundRect">
            <a:avLst>
              <a:gd name="adj" fmla="val 16667"/>
            </a:avLst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33088" y="245973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" y="300837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783080" y="304495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83080" y="3044952"/>
            <a:ext cx="1242212" cy="164592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33088" y="300837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" y="355701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783080" y="359359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83080" y="3593592"/>
            <a:ext cx="1016356" cy="164592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33088" y="35570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808" y="410565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783080" y="414223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83080" y="4142232"/>
            <a:ext cx="1016356" cy="164592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33088" y="410565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9808" y="465429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783080" y="469087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83080" y="4690872"/>
            <a:ext cx="1580998" cy="164592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33088" y="465429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9808" y="54864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Winner: MPDS 14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92040" y="19019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Item scores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92040" y="2148840"/>
            <a:ext cx="5623560" cy="0"/>
          </a:xfrm>
          <a:prstGeom prst="line">
            <a:avLst/>
          </a:prstGeom>
          <a:noFill/>
          <a:ln w="16510">
            <a:solidFill>
              <a:srgbClr val="1F293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92040" y="2569464"/>
            <a:ext cx="5623560" cy="0"/>
          </a:xfrm>
          <a:prstGeom prst="line">
            <a:avLst/>
          </a:prstGeom>
          <a:noFill/>
          <a:ln w="13970">
            <a:solidFill>
              <a:srgbClr val="0F766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92040" y="2990088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92040" y="3410712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92040" y="3831336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92040" y="4251960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92040" y="4672584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9204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4360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1228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7240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73252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78408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51560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28616" y="221284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980176" y="2212848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Novelty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848856" y="221284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Mechanism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808976" y="221284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Trade-off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8769096" y="221284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Integration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9820656" y="221284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Total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782312" y="2642616"/>
            <a:ext cx="54864" cy="274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28616" y="2633472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980176" y="2633472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848856" y="2633472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7808976" y="2633472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8769096" y="2633472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9820656" y="263347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782312" y="3063240"/>
            <a:ext cx="54864" cy="2743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28616" y="3054096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5980176" y="3054096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6848856" y="3054096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7808976" y="3054096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8769096" y="3054096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9820656" y="3054096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4782312" y="3483864"/>
            <a:ext cx="54864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928616" y="3474720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5980176" y="3474720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6848856" y="3474720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7808976" y="3474720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8769096" y="3474720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9820656" y="347472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4782312" y="3904488"/>
            <a:ext cx="54864" cy="274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928616" y="3895344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5980176" y="3895344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6848856" y="3895344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7808976" y="3895344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8769096" y="3895344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9820656" y="3895344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4782312" y="4325112"/>
            <a:ext cx="54864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928616" y="431596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5980176" y="4315968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80" name="Text 78"/>
          <p:cNvSpPr/>
          <p:nvPr/>
        </p:nvSpPr>
        <p:spPr>
          <a:xfrm>
            <a:off x="6848856" y="431596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81" name="Text 79"/>
          <p:cNvSpPr/>
          <p:nvPr/>
        </p:nvSpPr>
        <p:spPr>
          <a:xfrm>
            <a:off x="7808976" y="431596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82" name="Text 80"/>
          <p:cNvSpPr/>
          <p:nvPr/>
        </p:nvSpPr>
        <p:spPr>
          <a:xfrm>
            <a:off x="8769096" y="431596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50" dirty="0"/>
          </a:p>
        </p:txBody>
      </p:sp>
      <p:sp>
        <p:nvSpPr>
          <p:cNvPr id="83" name="Text 81"/>
          <p:cNvSpPr/>
          <p:nvPr/>
        </p:nvSpPr>
        <p:spPr>
          <a:xfrm>
            <a:off x="9820656" y="431596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050" dirty="0"/>
          </a:p>
        </p:txBody>
      </p:sp>
      <p:sp>
        <p:nvSpPr>
          <p:cNvPr id="84" name="Text 82"/>
          <p:cNvSpPr/>
          <p:nvPr/>
        </p:nvSpPr>
        <p:spPr>
          <a:xfrm>
            <a:off x="4892040" y="4919472"/>
            <a:ext cx="6537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LLM: This is a competent but conventional summary of standard engineering practices and optimization routes without significant novelty or integration of competing views.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EO: The proposal is meaningfully differentiated by integrating process knowledge from the solar cell field to suggest a more controlled synthesis route.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EOP: The output proposes a well-reasoned but conventional synthesis pathway, combining standard techniques like electrospinning and the Kirkendall effect to manage known trade-offs without fundamentally reframing them.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DS: This output structures a research plan to test two competing hypotheses in parallel, showing strong integration but proposing no new scientific idea.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MPDS: This output excels at synthesizing two competing philosophies, reframing the core trade-off, and creating a novel hybrid solution with explicit adopt/discard logic.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1109960" cy="0"/>
          </a:xfrm>
          <a:prstGeom prst="line">
            <a:avLst/>
          </a:prstGeom>
          <a:noFill/>
          <a:ln w="2794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881360" y="641908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621792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20  3D Carbon(20)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58368" y="1051560"/>
            <a:ext cx="10881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How should highly graphitic 3DOM carbon microspheres be integrated with hollow metal oxide nanospheres to achieve fast lithium storage without sacrificing structural integrity or volumetric efficiency?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19933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Total Score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245973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83080" y="249631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83080" y="2496312"/>
            <a:ext cx="1919783" cy="164592"/>
          </a:xfrm>
          <a:prstGeom prst="roundRect">
            <a:avLst>
              <a:gd name="adj" fmla="val 16667"/>
            </a:avLst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33088" y="245973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" y="300837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783080" y="304495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83080" y="3044952"/>
            <a:ext cx="564642" cy="164592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33088" y="300837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" y="355701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783080" y="359359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83080" y="3593592"/>
            <a:ext cx="1468069" cy="164592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33088" y="35570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808" y="410565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783080" y="414223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83080" y="4142232"/>
            <a:ext cx="1242212" cy="164592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33088" y="410565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9808" y="465429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783080" y="469087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83080" y="4690872"/>
            <a:ext cx="2032711" cy="164592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33088" y="465429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9808" y="54864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Winner: MPDS 18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92040" y="19019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Item scores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92040" y="2148840"/>
            <a:ext cx="5623560" cy="0"/>
          </a:xfrm>
          <a:prstGeom prst="line">
            <a:avLst/>
          </a:prstGeom>
          <a:noFill/>
          <a:ln w="16510">
            <a:solidFill>
              <a:srgbClr val="1F293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92040" y="2569464"/>
            <a:ext cx="5623560" cy="0"/>
          </a:xfrm>
          <a:prstGeom prst="line">
            <a:avLst/>
          </a:prstGeom>
          <a:noFill/>
          <a:ln w="13970">
            <a:solidFill>
              <a:srgbClr val="0F766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92040" y="2990088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92040" y="3410712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92040" y="3831336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92040" y="4251960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92040" y="4672584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9204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4360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1228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7240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73252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78408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51560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28616" y="221284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980176" y="2212848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Novelty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848856" y="221284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Mechanism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808976" y="221284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Trade-off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8769096" y="221284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Integration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9820656" y="221284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Total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782312" y="2642616"/>
            <a:ext cx="54864" cy="274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28616" y="2633472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980176" y="2633472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848856" y="2633472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7808976" y="2633472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8769096" y="2633472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9820656" y="263347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782312" y="3063240"/>
            <a:ext cx="54864" cy="2743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28616" y="3054096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5980176" y="3054096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6848856" y="3054096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7808976" y="3054096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8769096" y="3054096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9820656" y="3054096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4782312" y="3483864"/>
            <a:ext cx="54864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928616" y="3474720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5980176" y="3474720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6848856" y="3474720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7808976" y="3474720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8769096" y="3474720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9820656" y="347472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4782312" y="3904488"/>
            <a:ext cx="54864" cy="274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928616" y="3895344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5980176" y="3895344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6848856" y="3895344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7808976" y="3895344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8769096" y="3895344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9820656" y="3895344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4782312" y="4325112"/>
            <a:ext cx="54864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928616" y="431596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5980176" y="4315968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80" name="Text 78"/>
          <p:cNvSpPr/>
          <p:nvPr/>
        </p:nvSpPr>
        <p:spPr>
          <a:xfrm>
            <a:off x="6848856" y="431596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81" name="Text 79"/>
          <p:cNvSpPr/>
          <p:nvPr/>
        </p:nvSpPr>
        <p:spPr>
          <a:xfrm>
            <a:off x="7808976" y="431596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50" dirty="0"/>
          </a:p>
        </p:txBody>
      </p:sp>
      <p:sp>
        <p:nvSpPr>
          <p:cNvPr id="82" name="Text 80"/>
          <p:cNvSpPr/>
          <p:nvPr/>
        </p:nvSpPr>
        <p:spPr>
          <a:xfrm>
            <a:off x="8769096" y="431596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50" dirty="0"/>
          </a:p>
        </p:txBody>
      </p:sp>
      <p:sp>
        <p:nvSpPr>
          <p:cNvPr id="83" name="Text 81"/>
          <p:cNvSpPr/>
          <p:nvPr/>
        </p:nvSpPr>
        <p:spPr>
          <a:xfrm>
            <a:off x="9820656" y="431596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1050" dirty="0"/>
          </a:p>
        </p:txBody>
      </p:sp>
      <p:sp>
        <p:nvSpPr>
          <p:cNvPr id="84" name="Text 82"/>
          <p:cNvSpPr/>
          <p:nvPr/>
        </p:nvSpPr>
        <p:spPr>
          <a:xfrm>
            <a:off x="4892040" y="4919472"/>
            <a:ext cx="6537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LLM: A strong proposal with a novel mechanistic idea (buffer layer) that systematically analyzes and integrates competing design trade-offs.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EO: A competent summary of existing design principles without a novel proposal or integration of competing views.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EOP: The proposal outlines a solid, multi-level hierarchical design by integrating several known concepts (MOF-synthesis, yolk-shell, 3DOM carbon) into a single, coherent synthesis pathway that addresses key trade-offs.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DS: A solid proposal that selects one of two competing strategies rather than creating a novel integration.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MPDS: An exceptional proposal that creates a novel hybrid architecture by explicitly integrating competing philosophies to restructure a key material trade-off.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1109960" cy="0"/>
          </a:xfrm>
          <a:prstGeom prst="line">
            <a:avLst/>
          </a:prstGeom>
          <a:noFill/>
          <a:ln w="2794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881360" y="641908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621792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21  SnO2(21)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58368" y="1051560"/>
            <a:ext cx="10881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How should hollow SnO2 nanoplate-based porous nanofibers be structured to balance lithium-ion diffusion, mechanical buffering, and electrical continuity?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19933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Total Score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245973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83080" y="249631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83080" y="2496312"/>
            <a:ext cx="564642" cy="164592"/>
          </a:xfrm>
          <a:prstGeom prst="roundRect">
            <a:avLst>
              <a:gd name="adj" fmla="val 16667"/>
            </a:avLst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33088" y="245973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" y="300837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783080" y="304495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83080" y="3044952"/>
            <a:ext cx="225857" cy="164592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33088" y="300837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" y="355701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783080" y="359359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83080" y="3593592"/>
            <a:ext cx="677570" cy="164592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33088" y="35570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808" y="410565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783080" y="414223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83080" y="4142232"/>
            <a:ext cx="1355141" cy="164592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33088" y="410565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9808" y="465429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783080" y="469087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83080" y="4690872"/>
            <a:ext cx="1806854" cy="164592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33088" y="465429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9808" y="54864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Winner: MPDS 16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92040" y="19019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Item scores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92040" y="2148840"/>
            <a:ext cx="5623560" cy="0"/>
          </a:xfrm>
          <a:prstGeom prst="line">
            <a:avLst/>
          </a:prstGeom>
          <a:noFill/>
          <a:ln w="16510">
            <a:solidFill>
              <a:srgbClr val="1F293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92040" y="2569464"/>
            <a:ext cx="5623560" cy="0"/>
          </a:xfrm>
          <a:prstGeom prst="line">
            <a:avLst/>
          </a:prstGeom>
          <a:noFill/>
          <a:ln w="13970">
            <a:solidFill>
              <a:srgbClr val="0F766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92040" y="2990088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92040" y="3410712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92040" y="3831336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92040" y="4251960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92040" y="4672584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9204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4360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1228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7240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73252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78408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51560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28616" y="221284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980176" y="2212848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Novelty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848856" y="221284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Mechanism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808976" y="221284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Trade-off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8769096" y="221284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Integration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9820656" y="221284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Total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782312" y="2642616"/>
            <a:ext cx="54864" cy="274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28616" y="2633472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980176" y="2633472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848856" y="2633472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7808976" y="2633472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8769096" y="2633472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9820656" y="263347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782312" y="3063240"/>
            <a:ext cx="54864" cy="2743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28616" y="3054096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5980176" y="3054096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6848856" y="3054096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7808976" y="3054096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8769096" y="3054096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9820656" y="3054096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4782312" y="3483864"/>
            <a:ext cx="54864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928616" y="3474720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5980176" y="3474720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6848856" y="3474720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7808976" y="3474720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8769096" y="3474720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9820656" y="347472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4782312" y="3904488"/>
            <a:ext cx="54864" cy="274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928616" y="3895344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5980176" y="3895344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6848856" y="3895344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7808976" y="3895344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8769096" y="3895344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9820656" y="3895344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4782312" y="4325112"/>
            <a:ext cx="54864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928616" y="431596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5980176" y="4315968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80" name="Text 78"/>
          <p:cNvSpPr/>
          <p:nvPr/>
        </p:nvSpPr>
        <p:spPr>
          <a:xfrm>
            <a:off x="6848856" y="431596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81" name="Text 79"/>
          <p:cNvSpPr/>
          <p:nvPr/>
        </p:nvSpPr>
        <p:spPr>
          <a:xfrm>
            <a:off x="7808976" y="431596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82" name="Text 80"/>
          <p:cNvSpPr/>
          <p:nvPr/>
        </p:nvSpPr>
        <p:spPr>
          <a:xfrm>
            <a:off x="8769096" y="431596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83" name="Text 81"/>
          <p:cNvSpPr/>
          <p:nvPr/>
        </p:nvSpPr>
        <p:spPr>
          <a:xfrm>
            <a:off x="9820656" y="431596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1050" dirty="0"/>
          </a:p>
        </p:txBody>
      </p:sp>
      <p:sp>
        <p:nvSpPr>
          <p:cNvPr id="84" name="Text 82"/>
          <p:cNvSpPr/>
          <p:nvPr/>
        </p:nvSpPr>
        <p:spPr>
          <a:xfrm>
            <a:off x="4892040" y="4919472"/>
            <a:ext cx="6537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LLM: This output describes a competent but standard hierarchical design using familiar components and mechanisms, with a solid proposal for balancing trade-offs via multi-scale porosity.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EO: This output describes a conventional and well-established hierarchical structure, repeating familiar mechanisms and acknowledging trade-offs without proposing a novel idea or integration.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EOP: The output proposes a conventional hierarchical structure using familiar mechanisms, but clearly explains how this known design integrates multiple requirements to manage trade-offs.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DS: This output proposes a meaningfully different hybrid solution by integrating a structural framework from one perspective with a material-level enhancement from another, with clear adopt/discard logic.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MPDS: This output proposes a non-obvious solid-core/porous-shell architecture that mechanistically decouples functions, reframes trade-offs, and is explicitly synthesized from competing perspectives.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1109960" cy="0"/>
          </a:xfrm>
          <a:prstGeom prst="line">
            <a:avLst/>
          </a:prstGeom>
          <a:noFill/>
          <a:ln w="2794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881360" y="641908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621792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22  NiO(22)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58368" y="1051560"/>
            <a:ext cx="10881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What tube-in-tube NiO nanobelt design would best relieve volume change while keeping ion transport pathways short and the one-dimensional framework electrically continuous?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19933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Total Score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245973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83080" y="249631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83080" y="2496312"/>
            <a:ext cx="1355141" cy="164592"/>
          </a:xfrm>
          <a:prstGeom prst="roundRect">
            <a:avLst>
              <a:gd name="adj" fmla="val 16667"/>
            </a:avLst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33088" y="245973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" y="300837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783080" y="304495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83080" y="3044952"/>
            <a:ext cx="677570" cy="164592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33088" y="300837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" y="355701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783080" y="359359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83080" y="3593592"/>
            <a:ext cx="1016356" cy="164592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33088" y="35570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808" y="410565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783080" y="414223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83080" y="4142232"/>
            <a:ext cx="1129284" cy="164592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33088" y="410565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9808" y="465429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783080" y="469087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83080" y="4690872"/>
            <a:ext cx="1129284" cy="164592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33088" y="465429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9808" y="54864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Winner: Raw LLM 12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92040" y="19019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Item scores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92040" y="2148840"/>
            <a:ext cx="5623560" cy="0"/>
          </a:xfrm>
          <a:prstGeom prst="line">
            <a:avLst/>
          </a:prstGeom>
          <a:noFill/>
          <a:ln w="16510">
            <a:solidFill>
              <a:srgbClr val="1F293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92040" y="2569464"/>
            <a:ext cx="5623560" cy="0"/>
          </a:xfrm>
          <a:prstGeom prst="line">
            <a:avLst/>
          </a:prstGeom>
          <a:noFill/>
          <a:ln w="13970">
            <a:solidFill>
              <a:srgbClr val="0F766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92040" y="2990088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92040" y="3410712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92040" y="3831336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92040" y="4251960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92040" y="4672584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9204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4360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1228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7240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73252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78408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51560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28616" y="221284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980176" y="2212848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Novelty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848856" y="221284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Mechanism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808976" y="221284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Trade-off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8769096" y="221284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Integration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9820656" y="221284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Total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782312" y="2642616"/>
            <a:ext cx="54864" cy="274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28616" y="2633472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980176" y="2633472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848856" y="2633472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7808976" y="2633472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8769096" y="2633472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9820656" y="263347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782312" y="3063240"/>
            <a:ext cx="54864" cy="2743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28616" y="3054096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5980176" y="3054096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6848856" y="3054096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7808976" y="3054096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8769096" y="3054096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9820656" y="3054096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4782312" y="3483864"/>
            <a:ext cx="54864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928616" y="3474720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5980176" y="3474720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6848856" y="3474720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7808976" y="3474720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8769096" y="3474720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9820656" y="347472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4782312" y="3904488"/>
            <a:ext cx="54864" cy="274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928616" y="3895344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5980176" y="3895344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6848856" y="3895344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7808976" y="3895344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8769096" y="3895344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9820656" y="3895344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4782312" y="4325112"/>
            <a:ext cx="54864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928616" y="431596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5980176" y="4315968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80" name="Text 78"/>
          <p:cNvSpPr/>
          <p:nvPr/>
        </p:nvSpPr>
        <p:spPr>
          <a:xfrm>
            <a:off x="6848856" y="431596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81" name="Text 79"/>
          <p:cNvSpPr/>
          <p:nvPr/>
        </p:nvSpPr>
        <p:spPr>
          <a:xfrm>
            <a:off x="7808976" y="431596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82" name="Text 80"/>
          <p:cNvSpPr/>
          <p:nvPr/>
        </p:nvSpPr>
        <p:spPr>
          <a:xfrm>
            <a:off x="8769096" y="431596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83" name="Text 81"/>
          <p:cNvSpPr/>
          <p:nvPr/>
        </p:nvSpPr>
        <p:spPr>
          <a:xfrm>
            <a:off x="9820656" y="431596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50" dirty="0"/>
          </a:p>
        </p:txBody>
      </p:sp>
      <p:sp>
        <p:nvSpPr>
          <p:cNvPr id="84" name="Text 82"/>
          <p:cNvSpPr/>
          <p:nvPr/>
        </p:nvSpPr>
        <p:spPr>
          <a:xfrm>
            <a:off x="4892040" y="4919472"/>
            <a:ext cx="6537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LLM: The proposed carbon-interlayer design is novel and reframes the problem's trade-offs, but the analysis is a down-selection rather than a synthesis.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EO: This output describes a competent but standard design from a single perspective with no integration of competing ideas.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EOP: The proposal effectively combines several known strategies (mesoporosity, tube-in-tube, 1D nanobelt) but does not present a novel concept, mechanism, or trade-off reframing.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DS: This output effectively synthesizes a debate to justify its final direction, though the proposed design itself is conventional.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MPDS: The output strongly integrates two competing viewpoints but lands on a relatively standard final design.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1109960" cy="0"/>
          </a:xfrm>
          <a:prstGeom prst="line">
            <a:avLst/>
          </a:prstGeom>
          <a:noFill/>
          <a:ln w="2794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881360" y="641908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621792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23  MoSe2(23)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58368" y="1051560"/>
            <a:ext cx="10881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How should polydopamine-derived N-doped carbon-coated MoSe2 nanosheets be assembled into coral-like porous microspheres to stabilize fast Na/K storage without losing conductivity or structural access?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19933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Total Score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245973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83080" y="249631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83080" y="2496312"/>
            <a:ext cx="564642" cy="164592"/>
          </a:xfrm>
          <a:prstGeom prst="roundRect">
            <a:avLst>
              <a:gd name="adj" fmla="val 16667"/>
            </a:avLst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33088" y="245973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" y="300837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783080" y="304495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83080" y="3044952"/>
            <a:ext cx="564642" cy="164592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33088" y="300837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" y="355701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783080" y="359359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83080" y="3593592"/>
            <a:ext cx="1016356" cy="164592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33088" y="35570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808" y="410565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783080" y="414223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83080" y="4142232"/>
            <a:ext cx="1129284" cy="164592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33088" y="410565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9808" y="465429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783080" y="469087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83080" y="4690872"/>
            <a:ext cx="1919783" cy="164592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33088" y="465429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9808" y="54864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Winner: MPDS 17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92040" y="19019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Item scores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92040" y="2148840"/>
            <a:ext cx="5623560" cy="0"/>
          </a:xfrm>
          <a:prstGeom prst="line">
            <a:avLst/>
          </a:prstGeom>
          <a:noFill/>
          <a:ln w="16510">
            <a:solidFill>
              <a:srgbClr val="1F293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92040" y="2569464"/>
            <a:ext cx="5623560" cy="0"/>
          </a:xfrm>
          <a:prstGeom prst="line">
            <a:avLst/>
          </a:prstGeom>
          <a:noFill/>
          <a:ln w="13970">
            <a:solidFill>
              <a:srgbClr val="0F766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92040" y="2990088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92040" y="3410712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92040" y="3831336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92040" y="4251960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92040" y="4672584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9204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4360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1228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7240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73252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78408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51560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28616" y="221284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980176" y="2212848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Novelty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848856" y="221284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Mechanism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808976" y="221284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Trade-off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8769096" y="221284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Integration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9820656" y="221284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Total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782312" y="2642616"/>
            <a:ext cx="54864" cy="274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28616" y="2633472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980176" y="2633472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848856" y="2633472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7808976" y="2633472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8769096" y="2633472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9820656" y="263347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782312" y="3063240"/>
            <a:ext cx="54864" cy="2743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28616" y="3054096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5980176" y="3054096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6848856" y="3054096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7808976" y="3054096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8769096" y="3054096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9820656" y="3054096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4782312" y="3483864"/>
            <a:ext cx="54864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928616" y="3474720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5980176" y="3474720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6848856" y="3474720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7808976" y="3474720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8769096" y="3474720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9820656" y="347472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4782312" y="3904488"/>
            <a:ext cx="54864" cy="274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928616" y="3895344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5980176" y="3895344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6848856" y="3895344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7808976" y="3895344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8769096" y="3895344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9820656" y="3895344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4782312" y="4325112"/>
            <a:ext cx="54864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928616" y="431596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5980176" y="4315968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80" name="Text 78"/>
          <p:cNvSpPr/>
          <p:nvPr/>
        </p:nvSpPr>
        <p:spPr>
          <a:xfrm>
            <a:off x="6848856" y="431596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81" name="Text 79"/>
          <p:cNvSpPr/>
          <p:nvPr/>
        </p:nvSpPr>
        <p:spPr>
          <a:xfrm>
            <a:off x="7808976" y="431596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82" name="Text 80"/>
          <p:cNvSpPr/>
          <p:nvPr/>
        </p:nvSpPr>
        <p:spPr>
          <a:xfrm>
            <a:off x="8769096" y="431596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50" dirty="0"/>
          </a:p>
        </p:txBody>
      </p:sp>
      <p:sp>
        <p:nvSpPr>
          <p:cNvPr id="83" name="Text 81"/>
          <p:cNvSpPr/>
          <p:nvPr/>
        </p:nvSpPr>
        <p:spPr>
          <a:xfrm>
            <a:off x="9820656" y="431596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1050" dirty="0"/>
          </a:p>
        </p:txBody>
      </p:sp>
      <p:sp>
        <p:nvSpPr>
          <p:cNvPr id="84" name="Text 82"/>
          <p:cNvSpPr/>
          <p:nvPr/>
        </p:nvSpPr>
        <p:spPr>
          <a:xfrm>
            <a:off x="4892040" y="4919472"/>
            <a:ext cx="6537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LLM: This output analyzes standard process trade-offs and makes conventional choices, but does not propose a novel idea or create a truly integrated hybrid solution.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EO: This output describes a conventional synthesis pathway (coating and spray drying) and repeats familiar mechanisms without proposing a novel idea or integrating different perspectives.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EOP: The proposal competently combines several standard strategies into a coherent hierarchical design, but does not introduce novel ideas, mechanisms, or trade-off reframing.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DS: The proposal for a binder-free architecture is a meaningfully different approach and shows strong integration of concepts, but it accepts rather than reframes the key trade-offs involved.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MPDS: The proposal for a hybrid-phase 1T/2H core is a non-obvious idea that reframes the stability-vs-kinetics trade-off, and it is part of an exceptional synthesis of two competing viewpoints.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1109960" cy="0"/>
          </a:xfrm>
          <a:prstGeom prst="line">
            <a:avLst/>
          </a:prstGeom>
          <a:noFill/>
          <a:ln w="2794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881360" y="641908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621792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24  Cubic nanorooms(24)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58368" y="1051560"/>
            <a:ext cx="10881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What cubic-nanoroom metal sulfide/carbon microsphere design would best buffer sodium-driven strain while preserving conductive contact and scalable particle packing?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19933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Total Score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245973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83080" y="249631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83080" y="2496312"/>
            <a:ext cx="564642" cy="164592"/>
          </a:xfrm>
          <a:prstGeom prst="roundRect">
            <a:avLst>
              <a:gd name="adj" fmla="val 16667"/>
            </a:avLst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33088" y="245973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" y="300837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783080" y="304495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83080" y="3044952"/>
            <a:ext cx="1129284" cy="164592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33088" y="300837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" y="355701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783080" y="359359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83080" y="3593592"/>
            <a:ext cx="1355141" cy="164592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33088" y="35570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808" y="410565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783080" y="414223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83080" y="4142232"/>
            <a:ext cx="1468069" cy="164592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33088" y="410565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9808" y="465429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783080" y="469087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83080" y="4690872"/>
            <a:ext cx="1693926" cy="164592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33088" y="465429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9808" y="54864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Winner: MPDS 15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92040" y="19019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Item scores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92040" y="2148840"/>
            <a:ext cx="5623560" cy="0"/>
          </a:xfrm>
          <a:prstGeom prst="line">
            <a:avLst/>
          </a:prstGeom>
          <a:noFill/>
          <a:ln w="16510">
            <a:solidFill>
              <a:srgbClr val="1F293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92040" y="2569464"/>
            <a:ext cx="5623560" cy="0"/>
          </a:xfrm>
          <a:prstGeom prst="line">
            <a:avLst/>
          </a:prstGeom>
          <a:noFill/>
          <a:ln w="13970">
            <a:solidFill>
              <a:srgbClr val="0F766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92040" y="2990088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92040" y="3410712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92040" y="3831336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92040" y="4251960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92040" y="4672584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9204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4360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1228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7240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73252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78408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51560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28616" y="221284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980176" y="2212848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Novelty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848856" y="221284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Mechanism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808976" y="221284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Trade-off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8769096" y="221284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Integration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9820656" y="221284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Total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782312" y="2642616"/>
            <a:ext cx="54864" cy="274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28616" y="2633472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980176" y="2633472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848856" y="2633472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7808976" y="2633472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8769096" y="2633472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9820656" y="263347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782312" y="3063240"/>
            <a:ext cx="54864" cy="2743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28616" y="3054096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5980176" y="3054096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6848856" y="3054096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7808976" y="3054096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8769096" y="3054096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9820656" y="3054096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4782312" y="3483864"/>
            <a:ext cx="54864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928616" y="3474720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5980176" y="3474720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6848856" y="3474720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7808976" y="3474720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8769096" y="3474720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9820656" y="347472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4782312" y="3904488"/>
            <a:ext cx="54864" cy="274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928616" y="3895344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5980176" y="3895344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6848856" y="3895344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7808976" y="3895344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8769096" y="3895344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9820656" y="3895344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4782312" y="4325112"/>
            <a:ext cx="54864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928616" y="431596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5980176" y="4315968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80" name="Text 78"/>
          <p:cNvSpPr/>
          <p:nvPr/>
        </p:nvSpPr>
        <p:spPr>
          <a:xfrm>
            <a:off x="6848856" y="431596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81" name="Text 79"/>
          <p:cNvSpPr/>
          <p:nvPr/>
        </p:nvSpPr>
        <p:spPr>
          <a:xfrm>
            <a:off x="7808976" y="431596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82" name="Text 80"/>
          <p:cNvSpPr/>
          <p:nvPr/>
        </p:nvSpPr>
        <p:spPr>
          <a:xfrm>
            <a:off x="8769096" y="431596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83" name="Text 81"/>
          <p:cNvSpPr/>
          <p:nvPr/>
        </p:nvSpPr>
        <p:spPr>
          <a:xfrm>
            <a:off x="9820656" y="431596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050" dirty="0"/>
          </a:p>
        </p:txBody>
      </p:sp>
      <p:sp>
        <p:nvSpPr>
          <p:cNvPr id="84" name="Text 82"/>
          <p:cNvSpPr/>
          <p:nvPr/>
        </p:nvSpPr>
        <p:spPr>
          <a:xfrm>
            <a:off x="4892040" y="4919472"/>
            <a:ext cx="6537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LLM: Proposes a standard design by applying known principles to the specific geometry without significant novelty or integration.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EO: Recommends a composite of several advanced but known design features without a strongly integrated central hypothesis.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EOP: The proposal is a solid and well-integrated combination of known advanced strategies, but does not introduce a fundamentally new concept or mechanism.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DS: Creates a solid hybrid design by explicitly integrating core principles from two competing scientific arguments.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MPDS: Reaches a decisive conclusion by reframing the core trade-offs and integrating principles from competing views into a coherent rationale.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1109960" cy="0"/>
          </a:xfrm>
          <a:prstGeom prst="line">
            <a:avLst/>
          </a:prstGeom>
          <a:noFill/>
          <a:ln w="2794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881360" y="641908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621792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25  Fe2O3(25)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58368" y="1051560"/>
            <a:ext cx="10881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How should Fe2O3 hollow nanorods and nanospheres be chosen and engineered through Kirkendall diffusion to balance diffusion length, structural robustness, and electrode density?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19933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Total Score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245973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83080" y="249631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83080" y="2496312"/>
            <a:ext cx="790499" cy="164592"/>
          </a:xfrm>
          <a:prstGeom prst="roundRect">
            <a:avLst>
              <a:gd name="adj" fmla="val 16667"/>
            </a:avLst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33088" y="245973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" y="300837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783080" y="304495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83080" y="3044952"/>
            <a:ext cx="677570" cy="164592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33088" y="300837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" y="355701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783080" y="359359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83080" y="3593592"/>
            <a:ext cx="451714" cy="164592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33088" y="35570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808" y="410565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783080" y="414223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83080" y="4142232"/>
            <a:ext cx="1580998" cy="164592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33088" y="410565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9808" y="465429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783080" y="469087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83080" y="4690872"/>
            <a:ext cx="1693926" cy="164592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33088" y="465429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9808" y="54864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Winner: MPDS 15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92040" y="19019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Item scores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92040" y="2148840"/>
            <a:ext cx="5623560" cy="0"/>
          </a:xfrm>
          <a:prstGeom prst="line">
            <a:avLst/>
          </a:prstGeom>
          <a:noFill/>
          <a:ln w="16510">
            <a:solidFill>
              <a:srgbClr val="1F293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92040" y="2569464"/>
            <a:ext cx="5623560" cy="0"/>
          </a:xfrm>
          <a:prstGeom prst="line">
            <a:avLst/>
          </a:prstGeom>
          <a:noFill/>
          <a:ln w="13970">
            <a:solidFill>
              <a:srgbClr val="0F766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92040" y="2990088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92040" y="3410712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92040" y="3831336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92040" y="4251960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92040" y="4672584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9204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4360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1228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7240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73252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78408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51560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28616" y="221284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980176" y="2212848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Novelty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848856" y="221284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Mechanism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808976" y="221284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Trade-off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8769096" y="221284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Integration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9820656" y="221284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Total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782312" y="2642616"/>
            <a:ext cx="54864" cy="274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28616" y="2633472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980176" y="2633472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848856" y="2633472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7808976" y="2633472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8769096" y="2633472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9820656" y="263347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782312" y="3063240"/>
            <a:ext cx="54864" cy="2743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28616" y="3054096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5980176" y="3054096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6848856" y="3054096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7808976" y="3054096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8769096" y="3054096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9820656" y="3054096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4782312" y="3483864"/>
            <a:ext cx="54864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928616" y="3474720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5980176" y="3474720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6848856" y="3474720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7808976" y="3474720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8769096" y="3474720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9820656" y="347472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4782312" y="3904488"/>
            <a:ext cx="54864" cy="274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928616" y="3895344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5980176" y="3895344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6848856" y="3895344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7808976" y="3895344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8769096" y="3895344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9820656" y="3895344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4782312" y="4325112"/>
            <a:ext cx="54864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928616" y="431596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5980176" y="4315968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80" name="Text 78"/>
          <p:cNvSpPr/>
          <p:nvPr/>
        </p:nvSpPr>
        <p:spPr>
          <a:xfrm>
            <a:off x="6848856" y="431596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81" name="Text 79"/>
          <p:cNvSpPr/>
          <p:nvPr/>
        </p:nvSpPr>
        <p:spPr>
          <a:xfrm>
            <a:off x="7808976" y="431596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82" name="Text 80"/>
          <p:cNvSpPr/>
          <p:nvPr/>
        </p:nvSpPr>
        <p:spPr>
          <a:xfrm>
            <a:off x="8769096" y="431596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50" dirty="0"/>
          </a:p>
        </p:txBody>
      </p:sp>
      <p:sp>
        <p:nvSpPr>
          <p:cNvPr id="83" name="Text 81"/>
          <p:cNvSpPr/>
          <p:nvPr/>
        </p:nvSpPr>
        <p:spPr>
          <a:xfrm>
            <a:off x="9820656" y="431596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050" dirty="0"/>
          </a:p>
        </p:txBody>
      </p:sp>
      <p:sp>
        <p:nvSpPr>
          <p:cNvPr id="84" name="Text 82"/>
          <p:cNvSpPr/>
          <p:nvPr/>
        </p:nvSpPr>
        <p:spPr>
          <a:xfrm>
            <a:off x="4892040" y="4919472"/>
            <a:ext cx="6537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LLM: The output presents a standard comparison of two morphologies and applies conventional solutions to their respective weaknesses.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EO: This output is a descriptive summary of established concepts and strategies without proposing a novel or integrated path forward.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EOP: The output provides a competent review of two established approaches but does not propose a novel idea, mechanism, or method for reframing the core trade-offs, instead presenting the perspectives in parallel.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DS: This output reframes the problem as a choice between perfecting the particle versus perfecting the composite architecture, leading to a more advanced, integrated solution.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MPDS: The output makes a decisive choice between two philosophies and then explicitly integrates the primary critique from the rejected path into its final recommendation.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1109960" cy="0"/>
          </a:xfrm>
          <a:prstGeom prst="line">
            <a:avLst/>
          </a:prstGeom>
          <a:noFill/>
          <a:ln w="2794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881360" y="641908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621792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26  Fe3O4(26)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58368" y="1051560"/>
            <a:ext cx="10881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How should multishell Fe3O4 microspheres built from graphitic-carbon-coated hollow nanopowders be configured to improve long-cycle Li storage without excessive transport resistance or low tap density?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19933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Total Score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245973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83080" y="249631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83080" y="2496312"/>
            <a:ext cx="1355141" cy="164592"/>
          </a:xfrm>
          <a:prstGeom prst="roundRect">
            <a:avLst>
              <a:gd name="adj" fmla="val 16667"/>
            </a:avLst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33088" y="245973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" y="300837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783080" y="304495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83080" y="3044952"/>
            <a:ext cx="1129284" cy="164592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33088" y="300837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" y="355701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783080" y="359359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83080" y="3593592"/>
            <a:ext cx="1129284" cy="164592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33088" y="35570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808" y="410565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783080" y="414223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83080" y="4142232"/>
            <a:ext cx="1693926" cy="164592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33088" y="410565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9808" y="465429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783080" y="469087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83080" y="4690872"/>
            <a:ext cx="338785" cy="164592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33088" y="465429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9808" y="54864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Winner: DS 15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92040" y="19019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Item scores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92040" y="2148840"/>
            <a:ext cx="5623560" cy="0"/>
          </a:xfrm>
          <a:prstGeom prst="line">
            <a:avLst/>
          </a:prstGeom>
          <a:noFill/>
          <a:ln w="16510">
            <a:solidFill>
              <a:srgbClr val="1F293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92040" y="2569464"/>
            <a:ext cx="5623560" cy="0"/>
          </a:xfrm>
          <a:prstGeom prst="line">
            <a:avLst/>
          </a:prstGeom>
          <a:noFill/>
          <a:ln w="13970">
            <a:solidFill>
              <a:srgbClr val="0F766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92040" y="2990088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92040" y="3410712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92040" y="3831336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92040" y="4251960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92040" y="4672584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9204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4360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1228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7240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73252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78408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51560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28616" y="221284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980176" y="2212848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Novelty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848856" y="221284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Mechanism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808976" y="221284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Trade-off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8769096" y="221284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Integration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9820656" y="221284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Total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782312" y="2642616"/>
            <a:ext cx="54864" cy="274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28616" y="2633472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980176" y="2633472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848856" y="2633472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7808976" y="2633472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8769096" y="2633472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9820656" y="263347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782312" y="3063240"/>
            <a:ext cx="54864" cy="2743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28616" y="3054096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5980176" y="3054096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6848856" y="3054096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7808976" y="3054096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8769096" y="3054096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9820656" y="3054096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4782312" y="3483864"/>
            <a:ext cx="54864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928616" y="3474720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5980176" y="3474720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6848856" y="3474720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7808976" y="3474720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8769096" y="3474720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9820656" y="347472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4782312" y="3904488"/>
            <a:ext cx="54864" cy="274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928616" y="3895344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5980176" y="3895344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6848856" y="3895344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7808976" y="3895344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8769096" y="3895344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9820656" y="3895344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4782312" y="4325112"/>
            <a:ext cx="54864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928616" y="431596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5980176" y="4315968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80" name="Text 78"/>
          <p:cNvSpPr/>
          <p:nvPr/>
        </p:nvSpPr>
        <p:spPr>
          <a:xfrm>
            <a:off x="6848856" y="431596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81" name="Text 79"/>
          <p:cNvSpPr/>
          <p:nvPr/>
        </p:nvSpPr>
        <p:spPr>
          <a:xfrm>
            <a:off x="7808976" y="431596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82" name="Text 80"/>
          <p:cNvSpPr/>
          <p:nvPr/>
        </p:nvSpPr>
        <p:spPr>
          <a:xfrm>
            <a:off x="8769096" y="431596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83" name="Text 81"/>
          <p:cNvSpPr/>
          <p:nvPr/>
        </p:nvSpPr>
        <p:spPr>
          <a:xfrm>
            <a:off x="9820656" y="431596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84" name="Text 82"/>
          <p:cNvSpPr/>
          <p:nvPr/>
        </p:nvSpPr>
        <p:spPr>
          <a:xfrm>
            <a:off x="4892040" y="4919472"/>
            <a:ext cx="6537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LLM: The proposal for a multi-shell structure with engineered inter-shell voids is a meaningfully different design with a clear multi-level strain management mechanism.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EO: This is a solid synthesis of known strategies and mechanisms from the literature, but it does not propose a conceptually new idea or causal logic.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EOP: The output proposes a solid combination of known strategies but does not introduce a novel core idea or mechanism, instead focusing on optimizing an existing design paradigm.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DS: The output excels at integrating two competing synthesis and architectural philosophies into a single, stronger strategic direction that reframes the trade-off between them.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MPDS: The output selects a conventional engineering approach and largely discards the alternative perspective rather than integrating it, offering little novelty.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1109960" cy="0"/>
          </a:xfrm>
          <a:prstGeom prst="line">
            <a:avLst/>
          </a:prstGeom>
          <a:noFill/>
          <a:ln w="2794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881360" y="641908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621792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27  Metal sulfoselenide(27)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58368" y="1051560"/>
            <a:ext cx="10881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How should metal sulfoselenide solid-solution nanoparticles and hollow carbon nanospheres be co-designed to exploit hetero-anion effects without destabilizing the anode microstructure?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19933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Total Score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245973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83080" y="249631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83080" y="2496312"/>
            <a:ext cx="1355141" cy="164592"/>
          </a:xfrm>
          <a:prstGeom prst="roundRect">
            <a:avLst>
              <a:gd name="adj" fmla="val 16667"/>
            </a:avLst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33088" y="245973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" y="300837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783080" y="304495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83080" y="3044952"/>
            <a:ext cx="1355141" cy="164592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33088" y="300837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" y="355701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783080" y="359359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83080" y="3593592"/>
            <a:ext cx="1242212" cy="164592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33088" y="35570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808" y="410565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783080" y="414223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83080" y="4142232"/>
            <a:ext cx="1468069" cy="164592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33088" y="410565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9808" y="465429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783080" y="469087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83080" y="4690872"/>
            <a:ext cx="1580998" cy="164592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33088" y="465429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9808" y="54864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Winner: MPDS 14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92040" y="19019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Item scores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92040" y="2148840"/>
            <a:ext cx="5623560" cy="0"/>
          </a:xfrm>
          <a:prstGeom prst="line">
            <a:avLst/>
          </a:prstGeom>
          <a:noFill/>
          <a:ln w="16510">
            <a:solidFill>
              <a:srgbClr val="1F293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92040" y="2569464"/>
            <a:ext cx="5623560" cy="0"/>
          </a:xfrm>
          <a:prstGeom prst="line">
            <a:avLst/>
          </a:prstGeom>
          <a:noFill/>
          <a:ln w="13970">
            <a:solidFill>
              <a:srgbClr val="0F766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92040" y="2990088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92040" y="3410712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92040" y="3831336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92040" y="4251960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92040" y="4672584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9204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4360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1228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7240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73252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78408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51560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28616" y="221284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980176" y="2212848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Novelty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848856" y="221284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Mechanism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808976" y="221284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Trade-off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8769096" y="221284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Integration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9820656" y="221284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Total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782312" y="2642616"/>
            <a:ext cx="54864" cy="274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28616" y="2633472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980176" y="2633472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848856" y="2633472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7808976" y="2633472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8769096" y="2633472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9820656" y="263347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782312" y="3063240"/>
            <a:ext cx="54864" cy="2743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28616" y="3054096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5980176" y="3054096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6848856" y="3054096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7808976" y="3054096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8769096" y="3054096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9820656" y="3054096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4782312" y="3483864"/>
            <a:ext cx="54864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928616" y="3474720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5980176" y="3474720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6848856" y="3474720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7808976" y="3474720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8769096" y="3474720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9820656" y="347472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4782312" y="3904488"/>
            <a:ext cx="54864" cy="274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928616" y="3895344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5980176" y="3895344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6848856" y="3895344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7808976" y="3895344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8769096" y="3895344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9820656" y="3895344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4782312" y="4325112"/>
            <a:ext cx="54864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928616" y="431596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5980176" y="4315968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80" name="Text 78"/>
          <p:cNvSpPr/>
          <p:nvPr/>
        </p:nvSpPr>
        <p:spPr>
          <a:xfrm>
            <a:off x="6848856" y="431596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81" name="Text 79"/>
          <p:cNvSpPr/>
          <p:nvPr/>
        </p:nvSpPr>
        <p:spPr>
          <a:xfrm>
            <a:off x="7808976" y="431596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82" name="Text 80"/>
          <p:cNvSpPr/>
          <p:nvPr/>
        </p:nvSpPr>
        <p:spPr>
          <a:xfrm>
            <a:off x="8769096" y="431596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50" dirty="0"/>
          </a:p>
        </p:txBody>
      </p:sp>
      <p:sp>
        <p:nvSpPr>
          <p:cNvPr id="83" name="Text 81"/>
          <p:cNvSpPr/>
          <p:nvPr/>
        </p:nvSpPr>
        <p:spPr>
          <a:xfrm>
            <a:off x="9820656" y="431596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050" dirty="0"/>
          </a:p>
        </p:txBody>
      </p:sp>
      <p:sp>
        <p:nvSpPr>
          <p:cNvPr id="84" name="Text 82"/>
          <p:cNvSpPr/>
          <p:nvPr/>
        </p:nvSpPr>
        <p:spPr>
          <a:xfrm>
            <a:off x="4892040" y="4919472"/>
            <a:ext cx="6537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LLM: Proposes a novel "mechanical fuse" mechanism, reframing the S:Se ratio's role to dampen stress rather than maximize performance.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EO: Proposes a solid synergistic design combining intrinsic (anion vacancies) and extrinsic (hollow carbon) stabilization mechanisms.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EOP: The response proposes a solid co-design strategy by integrating active material engineering (anion vacancies) with structural design (carbon spheres) to reframe the stability trade-off, though the core mechanism itself is based on prior work.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DS: Synthesizes two competing views into a clear, prioritized strategy emphasizing intrinsic stabilization as the advanced solution.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MPDS: Creates a powerful hybrid research plan by explicitly integrating one perspective's synthesis method with another's guiding mechanism.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1109960" cy="0"/>
          </a:xfrm>
          <a:prstGeom prst="line">
            <a:avLst/>
          </a:prstGeom>
          <a:noFill/>
          <a:ln w="2794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881360" y="641908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621792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28  SnO2(28)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58368" y="1051560"/>
            <a:ext cx="10881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How should irregular SnO2 particles be transformed into hollow/porous-walled architectures through Kirkendall diffusion to improve cycling stability without losing density and connectivity?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19933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Total Score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245973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83080" y="249631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83080" y="2496312"/>
            <a:ext cx="1016356" cy="164592"/>
          </a:xfrm>
          <a:prstGeom prst="roundRect">
            <a:avLst>
              <a:gd name="adj" fmla="val 16667"/>
            </a:avLst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33088" y="245973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" y="300837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783080" y="304495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83080" y="3044952"/>
            <a:ext cx="1016356" cy="164592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33088" y="300837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" y="355701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783080" y="359359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83080" y="3593592"/>
            <a:ext cx="677570" cy="164592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33088" y="35570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808" y="410565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783080" y="414223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83080" y="4142232"/>
            <a:ext cx="1468069" cy="164592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33088" y="410565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9808" y="465429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783080" y="469087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83080" y="4690872"/>
            <a:ext cx="1242212" cy="164592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33088" y="465429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9808" y="54864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Winner: DS 13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92040" y="19019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Item scores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92040" y="2148840"/>
            <a:ext cx="5623560" cy="0"/>
          </a:xfrm>
          <a:prstGeom prst="line">
            <a:avLst/>
          </a:prstGeom>
          <a:noFill/>
          <a:ln w="16510">
            <a:solidFill>
              <a:srgbClr val="1F293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92040" y="2569464"/>
            <a:ext cx="5623560" cy="0"/>
          </a:xfrm>
          <a:prstGeom prst="line">
            <a:avLst/>
          </a:prstGeom>
          <a:noFill/>
          <a:ln w="13970">
            <a:solidFill>
              <a:srgbClr val="0F766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92040" y="2990088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92040" y="3410712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92040" y="3831336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92040" y="4251960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92040" y="4672584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9204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4360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1228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7240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73252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78408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51560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28616" y="221284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980176" y="2212848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Novelty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848856" y="221284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Mechanism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808976" y="221284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Trade-off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8769096" y="221284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Integration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9820656" y="221284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Total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782312" y="2642616"/>
            <a:ext cx="54864" cy="274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28616" y="2633472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980176" y="2633472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848856" y="2633472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7808976" y="2633472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8769096" y="2633472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9820656" y="263347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782312" y="3063240"/>
            <a:ext cx="54864" cy="2743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28616" y="3054096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5980176" y="3054096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6848856" y="3054096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7808976" y="3054096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8769096" y="3054096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9820656" y="3054096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4782312" y="3483864"/>
            <a:ext cx="54864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928616" y="3474720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5980176" y="3474720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6848856" y="3474720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7808976" y="3474720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8769096" y="3474720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9820656" y="347472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4782312" y="3904488"/>
            <a:ext cx="54864" cy="274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928616" y="3895344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5980176" y="3895344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6848856" y="3895344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7808976" y="3895344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8769096" y="3895344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9820656" y="3895344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4782312" y="4325112"/>
            <a:ext cx="54864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928616" y="431596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5980176" y="4315968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80" name="Text 78"/>
          <p:cNvSpPr/>
          <p:nvPr/>
        </p:nvSpPr>
        <p:spPr>
          <a:xfrm>
            <a:off x="6848856" y="431596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81" name="Text 79"/>
          <p:cNvSpPr/>
          <p:nvPr/>
        </p:nvSpPr>
        <p:spPr>
          <a:xfrm>
            <a:off x="7808976" y="431596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82" name="Text 80"/>
          <p:cNvSpPr/>
          <p:nvPr/>
        </p:nvSpPr>
        <p:spPr>
          <a:xfrm>
            <a:off x="8769096" y="431596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83" name="Text 81"/>
          <p:cNvSpPr/>
          <p:nvPr/>
        </p:nvSpPr>
        <p:spPr>
          <a:xfrm>
            <a:off x="9820656" y="431596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50" dirty="0"/>
          </a:p>
        </p:txBody>
      </p:sp>
      <p:sp>
        <p:nvSpPr>
          <p:cNvPr id="84" name="Text 82"/>
          <p:cNvSpPr/>
          <p:nvPr/>
        </p:nvSpPr>
        <p:spPr>
          <a:xfrm>
            <a:off x="4892040" y="4919472"/>
            <a:ext cx="6537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LLM: This output provides a detailed and mechanistically sound experimental plan but relies on a combination of known techniques and lacks a synthesis of different perspectives.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EO: This is a competent summary of established strategies, combining known ideas like Kirkendall hollowing and carbon composites without proposing a novel concept or integration.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EOP: The output competently summarizes the standard approach to the problem using established methods and reasoning, but offers no novel ideas, mechanisms, or trade-off reframing.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DS: The proposal is highly novel for reframing the problem away from powders entirely by suggesting direct anode fabrication, but the final recommendation is a parallel strategy, not an integrated one.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MPDS: The output's strength is its explicit synthesis of two competing viewpoints into a coherent hybrid solution, though the underlying technical ideas are standard.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1109960" cy="0"/>
          </a:xfrm>
          <a:prstGeom prst="line">
            <a:avLst/>
          </a:prstGeom>
          <a:noFill/>
          <a:ln w="2794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881360" y="641908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621792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29  a-MnO2(29)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58368" y="1051560"/>
            <a:ext cx="10881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What testing protocol and cathode evaluation framework would most reliably distinguish intrinsic alpha-MnO2 behavior from electrolyte-, counter-electrode-, and cell-configuration artifacts in aqueous ZIBs?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19933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Total Score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245973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83080" y="249631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83080" y="2496312"/>
            <a:ext cx="451714" cy="164592"/>
          </a:xfrm>
          <a:prstGeom prst="roundRect">
            <a:avLst>
              <a:gd name="adj" fmla="val 16667"/>
            </a:avLst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33088" y="245973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" y="300837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783080" y="304495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83080" y="3044952"/>
            <a:ext cx="790499" cy="164592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33088" y="300837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" y="355701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783080" y="359359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83080" y="3593592"/>
            <a:ext cx="564642" cy="164592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33088" y="35570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808" y="410565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783080" y="414223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83080" y="4142232"/>
            <a:ext cx="1129284" cy="164592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33088" y="410565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9808" y="465429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783080" y="469087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83080" y="4690872"/>
            <a:ext cx="1806854" cy="164592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33088" y="465429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9808" y="54864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Winner: MPDS 16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92040" y="19019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Item scores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92040" y="2148840"/>
            <a:ext cx="5623560" cy="0"/>
          </a:xfrm>
          <a:prstGeom prst="line">
            <a:avLst/>
          </a:prstGeom>
          <a:noFill/>
          <a:ln w="16510">
            <a:solidFill>
              <a:srgbClr val="1F293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92040" y="2569464"/>
            <a:ext cx="5623560" cy="0"/>
          </a:xfrm>
          <a:prstGeom prst="line">
            <a:avLst/>
          </a:prstGeom>
          <a:noFill/>
          <a:ln w="13970">
            <a:solidFill>
              <a:srgbClr val="0F766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92040" y="2990088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92040" y="3410712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92040" y="3831336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92040" y="4251960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92040" y="4672584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9204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4360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1228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7240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73252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78408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51560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28616" y="221284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980176" y="2212848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Novelty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848856" y="221284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Mechanism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808976" y="221284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Trade-off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8769096" y="221284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Integration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9820656" y="221284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Total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782312" y="2642616"/>
            <a:ext cx="54864" cy="274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28616" y="2633472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980176" y="2633472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848856" y="2633472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7808976" y="2633472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8769096" y="2633472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9820656" y="263347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782312" y="3063240"/>
            <a:ext cx="54864" cy="2743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28616" y="3054096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5980176" y="3054096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6848856" y="3054096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7808976" y="3054096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8769096" y="3054096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9820656" y="3054096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4782312" y="3483864"/>
            <a:ext cx="54864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928616" y="3474720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5980176" y="3474720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6848856" y="3474720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7808976" y="3474720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8769096" y="3474720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9820656" y="347472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4782312" y="3904488"/>
            <a:ext cx="54864" cy="274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928616" y="3895344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5980176" y="3895344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6848856" y="3895344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7808976" y="3895344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8769096" y="3895344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9820656" y="3895344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4782312" y="4325112"/>
            <a:ext cx="54864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928616" y="431596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5980176" y="4315968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80" name="Text 78"/>
          <p:cNvSpPr/>
          <p:nvPr/>
        </p:nvSpPr>
        <p:spPr>
          <a:xfrm>
            <a:off x="6848856" y="431596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81" name="Text 79"/>
          <p:cNvSpPr/>
          <p:nvPr/>
        </p:nvSpPr>
        <p:spPr>
          <a:xfrm>
            <a:off x="7808976" y="431596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82" name="Text 80"/>
          <p:cNvSpPr/>
          <p:nvPr/>
        </p:nvSpPr>
        <p:spPr>
          <a:xfrm>
            <a:off x="8769096" y="431596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50" dirty="0"/>
          </a:p>
        </p:txBody>
      </p:sp>
      <p:sp>
        <p:nvSpPr>
          <p:cNvPr id="83" name="Text 81"/>
          <p:cNvSpPr/>
          <p:nvPr/>
        </p:nvSpPr>
        <p:spPr>
          <a:xfrm>
            <a:off x="9820656" y="431596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1050" dirty="0"/>
          </a:p>
        </p:txBody>
      </p:sp>
      <p:sp>
        <p:nvSpPr>
          <p:cNvPr id="84" name="Text 82"/>
          <p:cNvSpPr/>
          <p:nvPr/>
        </p:nvSpPr>
        <p:spPr>
          <a:xfrm>
            <a:off x="4892040" y="4919472"/>
            <a:ext cx="6537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LLM: This output describes a conventional, textbook-style protocol for electrochemical characterization without significant novelty, mechanistic originality, or integration of different perspectives.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EO: The output is a comprehensive and well-structured compilation of standard best practices, but it does not propose a novel protocol design or reframe existing trade-offs.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EOP: The output describes a thorough but conventional 'best practices' protocol, applying standard techniques without proposing a novel idea, mechanism, or integration.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DS: The output proposes a logical two-tiered workflow that meaningfully integrates two competing philosophies into a new optimization route, though the individual components of the protocol are not novel.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MPDS: The proposal for a stage-gated protocol featuring a 'Resilience Score' is a novel idea that reframes the core trade-off and is explicitly derived from integrating competing viewpoints.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1109960" cy="0"/>
          </a:xfrm>
          <a:prstGeom prst="line">
            <a:avLst/>
          </a:prstGeom>
          <a:noFill/>
          <a:ln w="2794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881360" y="641908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621792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30  metal selenide(30)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58368" y="1051560"/>
            <a:ext cx="10881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How should metal incorporation and hollow-carbon encapsulation be combined in metal selenide nanoparticles to improve sodium-ion storage without creating unnecessary mass or transport penalties?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19933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Total Score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245973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83080" y="249631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83080" y="2496312"/>
            <a:ext cx="1016356" cy="164592"/>
          </a:xfrm>
          <a:prstGeom prst="roundRect">
            <a:avLst>
              <a:gd name="adj" fmla="val 16667"/>
            </a:avLst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33088" y="245973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" y="300837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783080" y="304495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83080" y="3044952"/>
            <a:ext cx="451714" cy="164592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33088" y="300837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" y="355701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783080" y="359359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83080" y="3593592"/>
            <a:ext cx="1129284" cy="164592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33088" y="35570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808" y="410565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783080" y="414223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83080" y="4142232"/>
            <a:ext cx="1468069" cy="164592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33088" y="410565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9808" y="465429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783080" y="4690872"/>
            <a:ext cx="2258568" cy="164592"/>
          </a:xfrm>
          <a:prstGeom prst="roundRect">
            <a:avLst>
              <a:gd name="adj" fmla="val 16667"/>
            </a:avLst>
          </a:prstGeom>
          <a:solidFill>
            <a:srgbClr val="E7E2DB"/>
          </a:solidFill>
          <a:ln w="12700">
            <a:solidFill>
              <a:srgbClr val="E7E2DB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83080" y="4690872"/>
            <a:ext cx="903427" cy="164592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33088" y="465429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9808" y="54864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Winner: DS 13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92040" y="19019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Item scores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92040" y="2148840"/>
            <a:ext cx="5623560" cy="0"/>
          </a:xfrm>
          <a:prstGeom prst="line">
            <a:avLst/>
          </a:prstGeom>
          <a:noFill/>
          <a:ln w="16510">
            <a:solidFill>
              <a:srgbClr val="1F293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92040" y="2569464"/>
            <a:ext cx="5623560" cy="0"/>
          </a:xfrm>
          <a:prstGeom prst="line">
            <a:avLst/>
          </a:prstGeom>
          <a:noFill/>
          <a:ln w="13970">
            <a:solidFill>
              <a:srgbClr val="0F766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92040" y="2990088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92040" y="3410712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92040" y="3831336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92040" y="4251960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92040" y="4672584"/>
            <a:ext cx="5623560" cy="0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9204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4360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1228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7240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73252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78408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515600" y="2148840"/>
            <a:ext cx="0" cy="2523744"/>
          </a:xfrm>
          <a:prstGeom prst="line">
            <a:avLst/>
          </a:prstGeom>
          <a:noFill/>
          <a:ln w="10160">
            <a:solidFill>
              <a:srgbClr val="D6D3D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28616" y="221284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980176" y="2212848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Novelty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848856" y="221284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Mechanism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808976" y="221284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Trade-off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8769096" y="221284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Integration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9820656" y="221284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Total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782312" y="2642616"/>
            <a:ext cx="54864" cy="274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28616" y="2633472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980176" y="2633472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848856" y="2633472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7808976" y="2633472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8769096" y="2633472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9820656" y="263347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782312" y="3063240"/>
            <a:ext cx="54864" cy="2743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28616" y="3054096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5980176" y="3054096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6848856" y="3054096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7808976" y="3054096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8769096" y="3054096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9820656" y="3054096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4782312" y="3483864"/>
            <a:ext cx="54864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928616" y="3474720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5980176" y="3474720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6848856" y="3474720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7808976" y="3474720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8769096" y="3474720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9820656" y="347472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4782312" y="3904488"/>
            <a:ext cx="54864" cy="274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928616" y="3895344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5980176" y="3895344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6848856" y="3895344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7808976" y="3895344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8769096" y="3895344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9820656" y="3895344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4782312" y="4325112"/>
            <a:ext cx="54864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928616" y="431596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5980176" y="4315968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80" name="Text 78"/>
          <p:cNvSpPr/>
          <p:nvPr/>
        </p:nvSpPr>
        <p:spPr>
          <a:xfrm>
            <a:off x="6848856" y="431596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81" name="Text 79"/>
          <p:cNvSpPr/>
          <p:nvPr/>
        </p:nvSpPr>
        <p:spPr>
          <a:xfrm>
            <a:off x="7808976" y="431596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82" name="Text 80"/>
          <p:cNvSpPr/>
          <p:nvPr/>
        </p:nvSpPr>
        <p:spPr>
          <a:xfrm>
            <a:off x="8769096" y="431596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83" name="Text 81"/>
          <p:cNvSpPr/>
          <p:nvPr/>
        </p:nvSpPr>
        <p:spPr>
          <a:xfrm>
            <a:off x="9820656" y="431596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50" dirty="0"/>
          </a:p>
        </p:txBody>
      </p:sp>
      <p:sp>
        <p:nvSpPr>
          <p:cNvPr id="84" name="Text 82"/>
          <p:cNvSpPr/>
          <p:nvPr/>
        </p:nvSpPr>
        <p:spPr>
          <a:xfrm>
            <a:off x="4892040" y="4919472"/>
            <a:ext cx="6537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LLM: This is a solid but not highly novel design proposal that combines known high-performance features and proposes a new balance point for key trade-offs.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EO: The output is a conventional summary of the existing literature and consensus designs, repeating familiar ideas and mechanisms without significant novelty or integration.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EOP: The response proposes a competent and well-reasoned combination of established strategies (yolk-shell, bimetallic heterostructures, MOF-templating) but does not introduce a novel idea or mechanism.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DS: The proposal is a strong hybrid of two competing approaches, creating a novel hierarchical architecture with a clear, multi-scale mechanistic rationale.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MPDS: This output provides an excellent integration of competing practical and scientific perspectives into a research plan, but the target material architecture itself is not novel.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Universal IHQ Case-by-Case Scores with EOP</dc:title>
  <dc:subject>Universal IHQ case-by-case scoring results with EOP</dc:subject>
  <dc:creator>OpenAI Codex</dc:creator>
  <cp:lastModifiedBy>OpenAI Codex</cp:lastModifiedBy>
  <cp:revision>1</cp:revision>
  <dcterms:created xsi:type="dcterms:W3CDTF">2026-04-08T02:25:03Z</dcterms:created>
  <dcterms:modified xsi:type="dcterms:W3CDTF">2026-04-08T02:25:03Z</dcterms:modified>
</cp:coreProperties>
</file>